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6F3A"/>
                </a:solidFill>
              </a:rPr>
              <a:t>C# Les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Inputvalidatie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en testen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Schoolplanner &amp; Klassenadministratie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720840" y="960120"/>
            <a:ext cx="4526280" cy="3063240"/>
          </a:xfrm>
          <a:prstGeom prst="rect">
            <a:avLst/>
          </a:prstGeom>
          <a:solidFill>
            <a:srgbClr val="121D31"/>
          </a:solidFill>
          <a:ln w="12700">
            <a:solidFill>
              <a:srgbClr val="121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67144" y="1097280"/>
            <a:ext cx="4233672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 ReadNumber(string question)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Console.Write(question);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input = Console.ReadLine();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(!int.TryParse(input, out int number))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-1;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number;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7150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Doel: richting afronding werken door fouten te voorkomen, systematisch te testen en code stabieler te maken.</a:t>
            </a:r>
            <a:endParaRPr lang="en-US" sz="1100" dirty="0"/>
          </a:p>
        </p:txBody>
      </p:sp>
      <p:pic>
        <p:nvPicPr>
          <p:cNvPr id="8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7329" y="6327648"/>
            <a:ext cx="290982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1D31"/>
                </a:solidFill>
              </a:rPr>
              <a:t>Terugblik: waar staat het project?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20040" y="786384"/>
            <a:ext cx="11064240" cy="0"/>
          </a:xfrm>
          <a:prstGeom prst="line">
            <a:avLst/>
          </a:prstGeom>
          <a:noFill/>
          <a:ln w="12700">
            <a:solidFill>
              <a:srgbClr val="D9D1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46F3A"/>
                </a:solidFill>
              </a:rPr>
              <a:t>Vorige les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74904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00" dirty="0">
                <a:solidFill>
                  <a:srgbClr val="121D31"/>
                </a:solidFill>
              </a:rPr>
              <a:t>Student zoeken op studentnummer.</a:t>
            </a:r>
            <a:endParaRPr lang="en-US" sz="1300" dirty="0"/>
          </a:p>
          <a:p>
            <a:r>
              <a:rPr lang="en-US" sz="1300" dirty="0">
                <a:solidFill>
                  <a:srgbClr val="121D31"/>
                </a:solidFill>
              </a:rPr>
              <a:t>Student aanpassen met setters.</a:t>
            </a:r>
            <a:endParaRPr lang="en-US" sz="1300" dirty="0"/>
          </a:p>
          <a:p>
            <a:r>
              <a:rPr lang="en-US" sz="1300" dirty="0">
                <a:solidFill>
                  <a:srgbClr val="121D31"/>
                </a:solidFill>
              </a:rPr>
              <a:t>Student verwijderen uit een List&lt;Student&gt;.</a:t>
            </a:r>
            <a:endParaRPr lang="en-US" sz="1300" dirty="0"/>
          </a:p>
          <a:p>
            <a:r>
              <a:rPr lang="en-US" sz="1300" dirty="0">
                <a:solidFill>
                  <a:srgbClr val="121D31"/>
                </a:solidFill>
              </a:rPr>
              <a:t>Menu uitgebreid met CRUD-opties.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1280160"/>
            <a:ext cx="5074920" cy="1920240"/>
          </a:xfrm>
          <a:prstGeom prst="rect">
            <a:avLst/>
          </a:prstGeom>
          <a:solidFill>
            <a:srgbClr val="121D31"/>
          </a:solidFill>
          <a:ln w="12700">
            <a:solidFill>
              <a:srgbClr val="121D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07024" y="1417320"/>
            <a:ext cx="4782312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found = FindStudentByNumber(students, number);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(found == null)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Console.WriteLine("Student not found.");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found.SetFirstName(newFirstName);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74520" y="4937760"/>
            <a:ext cx="786384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46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84248" y="5010912"/>
            <a:ext cx="764438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21D31"/>
                </a:solidFill>
              </a:rPr>
              <a:t>Vandaag: minder nieuwe functies, meer controle. Je programma moet voorspelbaar blijven werken.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177"/>
                </a:solidFill>
              </a:rPr>
              <a:t>Les 6 · Inputvalidatie en testen | 2</a:t>
            </a:r>
            <a:endParaRPr lang="en-US" sz="550" dirty="0"/>
          </a:p>
        </p:txBody>
      </p:sp>
      <p:pic>
        <p:nvPicPr>
          <p:cNvPr id="11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808" y="6510528"/>
            <a:ext cx="181864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1D31"/>
                </a:solidFill>
              </a:rPr>
              <a:t>Lesdoelen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20040" y="786384"/>
            <a:ext cx="11064240" cy="0"/>
          </a:xfrm>
          <a:prstGeom prst="line">
            <a:avLst/>
          </a:prstGeom>
          <a:noFill/>
          <a:ln w="12700">
            <a:solidFill>
              <a:srgbClr val="D9D1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46F3A"/>
                </a:solidFill>
              </a:rPr>
              <a:t>Wat moet je kunnen?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489204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00" dirty="0">
                <a:solidFill>
                  <a:srgbClr val="121D31"/>
                </a:solidFill>
              </a:rPr>
              <a:t>Ongeldige invoer herkennen.</a:t>
            </a:r>
            <a:endParaRPr lang="en-US" sz="1500" dirty="0"/>
          </a:p>
          <a:p>
            <a:r>
              <a:rPr lang="en-US" sz="1500" dirty="0">
                <a:solidFill>
                  <a:srgbClr val="121D31"/>
                </a:solidFill>
              </a:rPr>
              <a:t>Een veilige invoerfunctie maken.</a:t>
            </a:r>
            <a:endParaRPr lang="en-US" sz="1500" dirty="0"/>
          </a:p>
          <a:p>
            <a:r>
              <a:rPr lang="en-US" sz="1500" dirty="0">
                <a:solidFill>
                  <a:srgbClr val="121D31"/>
                </a:solidFill>
              </a:rPr>
              <a:t>Een programma testen met normale én foutieve situaties.</a:t>
            </a:r>
            <a:endParaRPr lang="en-US" sz="1500" dirty="0"/>
          </a:p>
          <a:p>
            <a:r>
              <a:rPr lang="en-US" sz="1500" dirty="0">
                <a:solidFill>
                  <a:srgbClr val="121D31"/>
                </a:solidFill>
              </a:rPr>
              <a:t>Bugs opschrijven in een buglog.</a:t>
            </a:r>
            <a:endParaRPr lang="en-US" sz="1500" dirty="0"/>
          </a:p>
          <a:p>
            <a:r>
              <a:rPr lang="en-US" sz="1500" dirty="0">
                <a:solidFill>
                  <a:srgbClr val="121D31"/>
                </a:solidFill>
              </a:rPr>
              <a:t>Bepalen wat eerst af moet richting oplevering.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86600" y="1325880"/>
            <a:ext cx="3291840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4562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96328" y="1399032"/>
            <a:ext cx="3072384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21D31"/>
                </a:solidFill>
              </a:rPr>
              <a:t>Eindproduct na deze les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1D31"/>
                </a:solidFill>
              </a:rPr>
              <a:t>Je programma crasht niet direct bij verkeerde invoer en je hebt een eerste testverslag.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86600" y="3703320"/>
            <a:ext cx="329184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E46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96328" y="3776472"/>
            <a:ext cx="3072384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21D31"/>
                </a:solidFill>
              </a:rPr>
              <a:t>Focus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1D31"/>
                </a:solidFill>
              </a:rPr>
              <a:t>Niet: nieuwe opties stapelen.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1D31"/>
                </a:solidFill>
              </a:rPr>
              <a:t>Wel: bestaande opties betrouwbaar maken.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177"/>
                </a:solidFill>
              </a:rPr>
              <a:t>Les 6 · Inputvalidatie en testen | 3</a:t>
            </a:r>
            <a:endParaRPr lang="en-US" sz="550" dirty="0"/>
          </a:p>
        </p:txBody>
      </p:sp>
      <p:pic>
        <p:nvPicPr>
          <p:cNvPr id="11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808" y="6510528"/>
            <a:ext cx="181864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1D31"/>
                </a:solidFill>
              </a:rPr>
              <a:t>Waarom inputvalidatie?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20040" y="786384"/>
            <a:ext cx="11064240" cy="0"/>
          </a:xfrm>
          <a:prstGeom prst="line">
            <a:avLst/>
          </a:prstGeom>
          <a:noFill/>
          <a:ln w="12700">
            <a:solidFill>
              <a:srgbClr val="D9D1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43000"/>
            <a:ext cx="10652760" cy="475488"/>
          </a:xfrm>
          <a:prstGeom prst="rect">
            <a:avLst/>
          </a:prstGeom>
          <a:solidFill>
            <a:srgbClr val="121D31"/>
          </a:solidFill>
          <a:ln w="6350">
            <a:solidFill>
              <a:srgbClr val="121D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18488"/>
            <a:ext cx="1065276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D9D1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93976"/>
            <a:ext cx="10652760" cy="475488"/>
          </a:xfrm>
          <a:prstGeom prst="rect">
            <a:avLst/>
          </a:prstGeom>
          <a:solidFill>
            <a:srgbClr val="F7F3EC"/>
          </a:solidFill>
          <a:ln w="4445">
            <a:solidFill>
              <a:srgbClr val="D9D1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569464"/>
            <a:ext cx="1065276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D9D1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044952"/>
            <a:ext cx="10652760" cy="475488"/>
          </a:xfrm>
          <a:prstGeom prst="rect">
            <a:avLst/>
          </a:prstGeom>
          <a:solidFill>
            <a:srgbClr val="F7F3EC"/>
          </a:solidFill>
          <a:ln w="4445">
            <a:solidFill>
              <a:srgbClr val="D9D1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197864"/>
            <a:ext cx="223113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Probleem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67512" y="1673352"/>
            <a:ext cx="223113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Letters waar getal hoort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667512" y="2148840"/>
            <a:ext cx="223113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Lege tekst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667512" y="2624328"/>
            <a:ext cx="223113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Negatief getal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667512" y="3099816"/>
            <a:ext cx="223113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Onbekende keuze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2971800" y="1143000"/>
            <a:ext cx="0" cy="2377440"/>
          </a:xfrm>
          <a:prstGeom prst="line">
            <a:avLst/>
          </a:prstGeom>
          <a:noFill/>
          <a:ln w="4445">
            <a:solidFill>
              <a:srgbClr val="D9D1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44952" y="1197864"/>
            <a:ext cx="268833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Voorbeeld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044952" y="1673352"/>
            <a:ext cx="268833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abc bij leeftijd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3044952" y="2148840"/>
            <a:ext cx="268833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geen voornaam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3044952" y="2624328"/>
            <a:ext cx="268833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-3 studenten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3044952" y="3099816"/>
            <a:ext cx="268833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menuoptie 99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5806440" y="1143000"/>
            <a:ext cx="0" cy="2377440"/>
          </a:xfrm>
          <a:prstGeom prst="line">
            <a:avLst/>
          </a:prstGeom>
          <a:noFill/>
          <a:ln w="4445">
            <a:solidFill>
              <a:srgbClr val="D9D1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9592" y="1197864"/>
            <a:ext cx="52943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Gevolg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79592" y="1673352"/>
            <a:ext cx="52943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Programma crasht of kiest fout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5879592" y="2148840"/>
            <a:ext cx="52943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Onbruikbare data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5879592" y="2624328"/>
            <a:ext cx="52943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Logisch onmogelijke invoer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5879592" y="3099816"/>
            <a:ext cx="52943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Programma doet niets duidelijks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594360" y="1143000"/>
            <a:ext cx="10652760" cy="237744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D9D1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11680" y="4892040"/>
            <a:ext cx="804672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46F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21408" y="4965192"/>
            <a:ext cx="782726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21D31"/>
                </a:solidFill>
              </a:rPr>
              <a:t>Validatie betekent: controleren voordat je gegevens gebruikt of opslaat.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0040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177"/>
                </a:solidFill>
              </a:rPr>
              <a:t>Les 6 · Inputvalidatie en testen | 4</a:t>
            </a:r>
            <a:endParaRPr lang="en-US" sz="550" dirty="0"/>
          </a:p>
        </p:txBody>
      </p:sp>
      <p:pic>
        <p:nvPicPr>
          <p:cNvPr id="30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808" y="6510528"/>
            <a:ext cx="181864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1D31"/>
                </a:solidFill>
              </a:rPr>
              <a:t>Voorbeeld: veilige getalinvoer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20040" y="786384"/>
            <a:ext cx="11064240" cy="0"/>
          </a:xfrm>
          <a:prstGeom prst="line">
            <a:avLst/>
          </a:prstGeom>
          <a:noFill/>
          <a:ln w="12700">
            <a:solidFill>
              <a:srgbClr val="D9D1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4A3B"/>
                </a:solidFill>
              </a:rPr>
              <a:t>Niet handig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4846320" cy="1005840"/>
          </a:xfrm>
          <a:prstGeom prst="rect">
            <a:avLst/>
          </a:prstGeom>
          <a:solidFill>
            <a:srgbClr val="121D31"/>
          </a:solidFill>
          <a:ln w="12700">
            <a:solidFill>
              <a:srgbClr val="121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463040"/>
            <a:ext cx="455371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Console.Write("Age: 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age = int.Parse(Console.ReadLine());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484632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84A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633472"/>
            <a:ext cx="462686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1D31"/>
                </a:solidFill>
              </a:rPr>
              <a:t>Probleem: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1D31"/>
                </a:solidFill>
              </a:rPr>
              <a:t>int.Parse crasht als de gebruiker tekst invoert.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0515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5625D"/>
                </a:solidFill>
              </a:rPr>
              <a:t>Beter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0" y="1325880"/>
            <a:ext cx="4846320" cy="2057400"/>
          </a:xfrm>
          <a:prstGeom prst="rect">
            <a:avLst/>
          </a:prstGeom>
          <a:solidFill>
            <a:srgbClr val="121D31"/>
          </a:solidFill>
          <a:ln w="12700">
            <a:solidFill>
              <a:srgbClr val="121D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47104" y="1463040"/>
            <a:ext cx="4553712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Console.Write("Age: ");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input = Console.ReadLine();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(!int.TryParse(input, out int age))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Console.WriteLine("Invalid age.");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874520" y="5074920"/>
            <a:ext cx="81381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46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84248" y="5148072"/>
            <a:ext cx="791870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21D31"/>
                </a:solidFill>
              </a:rPr>
              <a:t>TryParse geeft true of false. Daardoor kun je eerst controleren en daarna pas verdergaan.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177"/>
                </a:solidFill>
              </a:rPr>
              <a:t>Les 6 · Inputvalidatie en testen | 5</a:t>
            </a:r>
            <a:endParaRPr lang="en-US" sz="550" dirty="0"/>
          </a:p>
        </p:txBody>
      </p:sp>
      <p:pic>
        <p:nvPicPr>
          <p:cNvPr id="15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808" y="6510528"/>
            <a:ext cx="181864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1D31"/>
                </a:solidFill>
              </a:rPr>
              <a:t>Herbruikbare invoerfunctie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20040" y="786384"/>
            <a:ext cx="11064240" cy="0"/>
          </a:xfrm>
          <a:prstGeom prst="line">
            <a:avLst/>
          </a:prstGeom>
          <a:noFill/>
          <a:ln w="12700">
            <a:solidFill>
              <a:srgbClr val="D9D1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5486400" cy="3794760"/>
          </a:xfrm>
          <a:prstGeom prst="rect">
            <a:avLst/>
          </a:prstGeom>
          <a:solidFill>
            <a:srgbClr val="121D31"/>
          </a:solidFill>
          <a:ln w="12700">
            <a:solidFill>
              <a:srgbClr val="121D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325880"/>
            <a:ext cx="5193792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 ReadInt(string question)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Console.Write(question);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input = Console.ReadLine();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(!int.TryParse(input, out int number))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Console.WriteLine("Invalid number.");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-1;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number;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29400" y="1234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46F3A"/>
                </a:solidFill>
              </a:rPr>
              <a:t>Waarom handig?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720840" y="1645920"/>
            <a:ext cx="388620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121D31"/>
                </a:solidFill>
              </a:rPr>
              <a:t>Je schrijft de controle één keer.</a:t>
            </a:r>
            <a:endParaRPr lang="en-US" sz="1400" dirty="0"/>
          </a:p>
          <a:p>
            <a:r>
              <a:rPr lang="en-US" sz="1400" dirty="0">
                <a:solidFill>
                  <a:srgbClr val="121D31"/>
                </a:solidFill>
              </a:rPr>
              <a:t>Je gebruikt dezelfde foutmelding overal.</a:t>
            </a:r>
            <a:endParaRPr lang="en-US" sz="1400" dirty="0"/>
          </a:p>
          <a:p>
            <a:r>
              <a:rPr lang="en-US" sz="1400" dirty="0">
                <a:solidFill>
                  <a:srgbClr val="121D31"/>
                </a:solidFill>
              </a:rPr>
              <a:t>Menu, leeftijd en studentnummer kunnen dezelfde basis gebruiken.</a:t>
            </a:r>
            <a:endParaRPr lang="en-US" sz="1400" dirty="0"/>
          </a:p>
          <a:p>
            <a:r>
              <a:rPr lang="en-US" sz="1400" dirty="0">
                <a:solidFill>
                  <a:srgbClr val="121D31"/>
                </a:solidFill>
              </a:rPr>
              <a:t>Main blijft korter.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20840" y="4343400"/>
            <a:ext cx="36576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E46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30568" y="4416552"/>
            <a:ext cx="343814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21D31"/>
                </a:solidFill>
              </a:rPr>
              <a:t>Let op: -1 is hier een simpele foutwaarde. Daarna moet je controleren of de invoer geldig was.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177"/>
                </a:solidFill>
              </a:rPr>
              <a:t>Les 6 · Inputvalidatie en testen | 6</a:t>
            </a:r>
            <a:endParaRPr lang="en-US" sz="550" dirty="0"/>
          </a:p>
        </p:txBody>
      </p:sp>
      <p:pic>
        <p:nvPicPr>
          <p:cNvPr id="11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808" y="6510528"/>
            <a:ext cx="181864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1D31"/>
                </a:solidFill>
              </a:rPr>
              <a:t>Tekst controleren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20040" y="786384"/>
            <a:ext cx="11064240" cy="0"/>
          </a:xfrm>
          <a:prstGeom prst="line">
            <a:avLst/>
          </a:prstGeom>
          <a:noFill/>
          <a:ln w="12700">
            <a:solidFill>
              <a:srgbClr val="D9D1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5715000" cy="4023360"/>
          </a:xfrm>
          <a:prstGeom prst="rect">
            <a:avLst/>
          </a:prstGeom>
          <a:solidFill>
            <a:srgbClr val="121D31"/>
          </a:solidFill>
          <a:ln w="12700">
            <a:solidFill>
              <a:srgbClr val="121D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234440"/>
            <a:ext cx="5422392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string ReadRequiredText(string question)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Console.Write(question);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input = Console.ReadLine();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(string.IsNullOrWhiteSpace(input))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Console.WriteLine("Text may not be empty.");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input;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76656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46F3A"/>
                </a:solidFill>
              </a:rPr>
              <a:t>Gebruiken bij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0" y="1554480"/>
            <a:ext cx="274320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121D31"/>
                </a:solidFill>
              </a:rPr>
              <a:t>Voornaam</a:t>
            </a:r>
            <a:endParaRPr lang="en-US" sz="1400" dirty="0"/>
          </a:p>
          <a:p>
            <a:r>
              <a:rPr lang="en-US" sz="1400" dirty="0">
                <a:solidFill>
                  <a:srgbClr val="121D31"/>
                </a:solidFill>
              </a:rPr>
              <a:t>Achternaam</a:t>
            </a:r>
            <a:endParaRPr lang="en-US" sz="1400" dirty="0"/>
          </a:p>
          <a:p>
            <a:r>
              <a:rPr lang="en-US" sz="1400" dirty="0">
                <a:solidFill>
                  <a:srgbClr val="121D31"/>
                </a:solidFill>
              </a:rPr>
              <a:t>Klasnaam</a:t>
            </a:r>
            <a:endParaRPr lang="en-US" sz="1400" dirty="0"/>
          </a:p>
          <a:p>
            <a:r>
              <a:rPr lang="en-US" sz="1400" dirty="0">
                <a:solidFill>
                  <a:srgbClr val="121D31"/>
                </a:solidFill>
              </a:rPr>
              <a:t>Vaknaam</a:t>
            </a:r>
            <a:endParaRPr lang="en-US" sz="1400" dirty="0"/>
          </a:p>
          <a:p>
            <a:r>
              <a:rPr lang="en-US" sz="1400" dirty="0">
                <a:solidFill>
                  <a:srgbClr val="121D31"/>
                </a:solidFill>
              </a:rPr>
              <a:t>Docentnaam</a:t>
            </a:r>
            <a:endParaRPr lang="en-US" sz="1400" dirty="0"/>
          </a:p>
          <a:p>
            <a:r>
              <a:rPr lang="en-US" sz="1400" dirty="0">
                <a:solidFill>
                  <a:srgbClr val="121D31"/>
                </a:solidFill>
              </a:rPr>
              <a:t>Lokaal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0" y="4389120"/>
            <a:ext cx="338328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E46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67728" y="4462272"/>
            <a:ext cx="316382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1D31"/>
                </a:solidFill>
              </a:rPr>
              <a:t>Een lege naam is technisch misschien geen crash, maar wel slechte data.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177"/>
                </a:solidFill>
              </a:rPr>
              <a:t>Les 6 · Inputvalidatie en testen | 7</a:t>
            </a:r>
            <a:endParaRPr lang="en-US" sz="550" dirty="0"/>
          </a:p>
        </p:txBody>
      </p:sp>
      <p:pic>
        <p:nvPicPr>
          <p:cNvPr id="11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808" y="6510528"/>
            <a:ext cx="181864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1D31"/>
                </a:solidFill>
              </a:rPr>
              <a:t>Menu robuust maken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20040" y="786384"/>
            <a:ext cx="11064240" cy="0"/>
          </a:xfrm>
          <a:prstGeom prst="line">
            <a:avLst/>
          </a:prstGeom>
          <a:noFill/>
          <a:ln w="12700">
            <a:solidFill>
              <a:srgbClr val="D9D1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60120"/>
            <a:ext cx="6400800" cy="5257800"/>
          </a:xfrm>
          <a:prstGeom prst="rect">
            <a:avLst/>
          </a:prstGeom>
          <a:solidFill>
            <a:srgbClr val="121D31"/>
          </a:solidFill>
          <a:ln w="12700">
            <a:solidFill>
              <a:srgbClr val="121D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097280"/>
            <a:ext cx="6108192" cy="4983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ShowMenu(List&lt;Student&gt; students)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isRunning = true;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(isRunning)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Console.WriteLine("1. Add student");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Console.WriteLine("2. Show students");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Console.WriteLine("3. Search student");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Console.WriteLine("0. Exit");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choice = ReadInt("Choice: ");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switch (choice)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 1: AddStudent(students); break;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 2: ShowStudents(students); break;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 3: SearchStudent(students); break;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 0: isRunning = false; break;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default: Console.WriteLine("Unknown choice."); break;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731520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46F3A"/>
                </a:solidFill>
              </a:rPr>
              <a:t>Controleer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406640" y="1508760"/>
            <a:ext cx="333756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121D31"/>
                </a:solidFill>
              </a:rPr>
              <a:t>Letters bij menu.</a:t>
            </a:r>
            <a:endParaRPr lang="en-US" sz="1400" dirty="0"/>
          </a:p>
          <a:p>
            <a:r>
              <a:rPr lang="en-US" sz="1400" dirty="0">
                <a:solidFill>
                  <a:srgbClr val="121D31"/>
                </a:solidFill>
              </a:rPr>
              <a:t>Lege invoer.</a:t>
            </a:r>
            <a:endParaRPr lang="en-US" sz="1400" dirty="0"/>
          </a:p>
          <a:p>
            <a:r>
              <a:rPr lang="en-US" sz="1400" dirty="0">
                <a:solidFill>
                  <a:srgbClr val="121D31"/>
                </a:solidFill>
              </a:rPr>
              <a:t>Keuze buiten bereik.</a:t>
            </a:r>
            <a:endParaRPr lang="en-US" sz="1400" dirty="0"/>
          </a:p>
          <a:p>
            <a:r>
              <a:rPr lang="en-US" sz="1400" dirty="0">
                <a:solidFill>
                  <a:srgbClr val="121D31"/>
                </a:solidFill>
              </a:rPr>
              <a:t>Menu blijft herhalen.</a:t>
            </a:r>
            <a:endParaRPr lang="en-US" sz="1400" dirty="0"/>
          </a:p>
          <a:p>
            <a:r>
              <a:rPr lang="en-US" sz="1400" dirty="0">
                <a:solidFill>
                  <a:srgbClr val="121D31"/>
                </a:solidFill>
              </a:rPr>
              <a:t>Exit werkt nog steeds.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6640" y="4389120"/>
            <a:ext cx="320040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46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16368" y="4462272"/>
            <a:ext cx="298094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21D31"/>
                </a:solidFill>
              </a:rPr>
              <a:t>Het menu is de ingang van je programma. Als dit breekt, lijkt het hele product onbetrouwbaar.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0040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177"/>
                </a:solidFill>
              </a:rPr>
              <a:t>Les 6 · Inputvalidatie en testen | 8</a:t>
            </a:r>
            <a:endParaRPr lang="en-US" sz="550" dirty="0"/>
          </a:p>
        </p:txBody>
      </p:sp>
      <p:pic>
        <p:nvPicPr>
          <p:cNvPr id="11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808" y="6510528"/>
            <a:ext cx="181864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1D31"/>
                </a:solidFill>
              </a:rPr>
              <a:t>Testen: normaal en foutief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20040" y="786384"/>
            <a:ext cx="11064240" cy="0"/>
          </a:xfrm>
          <a:prstGeom prst="line">
            <a:avLst/>
          </a:prstGeom>
          <a:noFill/>
          <a:ln w="12700">
            <a:solidFill>
              <a:srgbClr val="D9D1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43000"/>
            <a:ext cx="10698480" cy="466344"/>
          </a:xfrm>
          <a:prstGeom prst="rect">
            <a:avLst/>
          </a:prstGeom>
          <a:solidFill>
            <a:srgbClr val="121D31"/>
          </a:solidFill>
          <a:ln w="6350">
            <a:solidFill>
              <a:srgbClr val="121D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9344"/>
            <a:ext cx="10698480" cy="466344"/>
          </a:xfrm>
          <a:prstGeom prst="rect">
            <a:avLst/>
          </a:prstGeom>
          <a:solidFill>
            <a:srgbClr val="FFFFFF"/>
          </a:solidFill>
          <a:ln w="4445">
            <a:solidFill>
              <a:srgbClr val="D9D1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75688"/>
            <a:ext cx="10698480" cy="466344"/>
          </a:xfrm>
          <a:prstGeom prst="rect">
            <a:avLst/>
          </a:prstGeom>
          <a:solidFill>
            <a:srgbClr val="F7F3EC"/>
          </a:solidFill>
          <a:ln w="4445">
            <a:solidFill>
              <a:srgbClr val="D9D1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542032"/>
            <a:ext cx="10698480" cy="466344"/>
          </a:xfrm>
          <a:prstGeom prst="rect">
            <a:avLst/>
          </a:prstGeom>
          <a:solidFill>
            <a:srgbClr val="FFFFFF"/>
          </a:solidFill>
          <a:ln w="4445">
            <a:solidFill>
              <a:srgbClr val="D9D1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08376"/>
            <a:ext cx="10698480" cy="466344"/>
          </a:xfrm>
          <a:prstGeom prst="rect">
            <a:avLst/>
          </a:prstGeom>
          <a:solidFill>
            <a:srgbClr val="F7F3EC"/>
          </a:solidFill>
          <a:ln w="4445">
            <a:solidFill>
              <a:srgbClr val="D9D1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197864"/>
            <a:ext cx="2048256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Testsoort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13232" y="1664208"/>
            <a:ext cx="2048256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Normaal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13232" y="2130552"/>
            <a:ext cx="2048256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Randgeval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713232" y="2596896"/>
            <a:ext cx="2048256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Foutief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713232" y="3063240"/>
            <a:ext cx="2048256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Herstel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2834640" y="1143000"/>
            <a:ext cx="0" cy="2331720"/>
          </a:xfrm>
          <a:prstGeom prst="line">
            <a:avLst/>
          </a:prstGeom>
          <a:noFill/>
          <a:ln w="4445">
            <a:solidFill>
              <a:srgbClr val="D9D1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07792" y="1197864"/>
            <a:ext cx="3694176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Voorbeeld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07792" y="1664208"/>
            <a:ext cx="3694176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Student toevoegen met geldige gegevens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2907792" y="2130552"/>
            <a:ext cx="3694176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Lijst is leeg en je kiest tonen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2907792" y="2596896"/>
            <a:ext cx="3694176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abc als studentnummer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2907792" y="3063240"/>
            <a:ext cx="3694176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Eerst fout, daarna goede invoer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675120" y="1143000"/>
            <a:ext cx="0" cy="2331720"/>
          </a:xfrm>
          <a:prstGeom prst="line">
            <a:avLst/>
          </a:prstGeom>
          <a:noFill/>
          <a:ln w="4445">
            <a:solidFill>
              <a:srgbClr val="D9D1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1197864"/>
            <a:ext cx="4517136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Waarom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748272" y="1664208"/>
            <a:ext cx="4517136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Controleren of basis werkt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6748272" y="2130552"/>
            <a:ext cx="4517136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Moet nette melding geven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6748272" y="2596896"/>
            <a:ext cx="4517136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Mag niet crashen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6748272" y="3063240"/>
            <a:ext cx="4517136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Programma moet verder kunnen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40080" y="1143000"/>
            <a:ext cx="1069848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D9D1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0240" y="4892040"/>
            <a:ext cx="81381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46F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29968" y="4965192"/>
            <a:ext cx="791870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21D31"/>
                </a:solidFill>
              </a:rPr>
              <a:t>Test niet alleen wat je verwacht dat werkt. Test vooral wat gebruikers fout kunnen doen.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0040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177"/>
                </a:solidFill>
              </a:rPr>
              <a:t>Les 6 · Inputvalidatie en testen | 9</a:t>
            </a:r>
            <a:endParaRPr lang="en-US" sz="550" dirty="0"/>
          </a:p>
        </p:txBody>
      </p:sp>
      <p:pic>
        <p:nvPicPr>
          <p:cNvPr id="30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808" y="6510528"/>
            <a:ext cx="181864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1D31"/>
                </a:solidFill>
              </a:rPr>
              <a:t>Testchecklist les 6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20040" y="786384"/>
            <a:ext cx="11064240" cy="0"/>
          </a:xfrm>
          <a:prstGeom prst="line">
            <a:avLst/>
          </a:prstGeom>
          <a:noFill/>
          <a:ln w="12700">
            <a:solidFill>
              <a:srgbClr val="D9D1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097280"/>
            <a:ext cx="10561320" cy="483326"/>
          </a:xfrm>
          <a:prstGeom prst="rect">
            <a:avLst/>
          </a:prstGeom>
          <a:solidFill>
            <a:srgbClr val="121D31"/>
          </a:solidFill>
          <a:ln w="6350">
            <a:solidFill>
              <a:srgbClr val="121D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80606"/>
            <a:ext cx="10561320" cy="483326"/>
          </a:xfrm>
          <a:prstGeom prst="rect">
            <a:avLst/>
          </a:prstGeom>
          <a:solidFill>
            <a:srgbClr val="FFFFFF"/>
          </a:solidFill>
          <a:ln w="4445">
            <a:solidFill>
              <a:srgbClr val="D9D1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63931"/>
            <a:ext cx="10561320" cy="483326"/>
          </a:xfrm>
          <a:prstGeom prst="rect">
            <a:avLst/>
          </a:prstGeom>
          <a:solidFill>
            <a:srgbClr val="F7F3EC"/>
          </a:solidFill>
          <a:ln w="4445">
            <a:solidFill>
              <a:srgbClr val="D9D1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547257"/>
            <a:ext cx="10561320" cy="483326"/>
          </a:xfrm>
          <a:prstGeom prst="rect">
            <a:avLst/>
          </a:prstGeom>
          <a:solidFill>
            <a:srgbClr val="FFFFFF"/>
          </a:solidFill>
          <a:ln w="4445">
            <a:solidFill>
              <a:srgbClr val="D9D1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3030583"/>
            <a:ext cx="10561320" cy="483326"/>
          </a:xfrm>
          <a:prstGeom prst="rect">
            <a:avLst/>
          </a:prstGeom>
          <a:solidFill>
            <a:srgbClr val="F7F3EC"/>
          </a:solidFill>
          <a:ln w="4445">
            <a:solidFill>
              <a:srgbClr val="D9D1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513909"/>
            <a:ext cx="10561320" cy="483326"/>
          </a:xfrm>
          <a:prstGeom prst="rect">
            <a:avLst/>
          </a:prstGeom>
          <a:solidFill>
            <a:srgbClr val="FFFFFF"/>
          </a:solidFill>
          <a:ln w="4445">
            <a:solidFill>
              <a:srgbClr val="D9D1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997234"/>
            <a:ext cx="10561320" cy="483326"/>
          </a:xfrm>
          <a:prstGeom prst="rect">
            <a:avLst/>
          </a:prstGeom>
          <a:solidFill>
            <a:srgbClr val="F7F3EC"/>
          </a:solidFill>
          <a:ln w="4445">
            <a:solidFill>
              <a:srgbClr val="D9D1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1152144"/>
            <a:ext cx="3511296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Controlepunt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58952" y="1635470"/>
            <a:ext cx="3511296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Lege voornaam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758952" y="2118795"/>
            <a:ext cx="3511296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Ongeldig studentnummer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758952" y="2602121"/>
            <a:ext cx="3511296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Onbekende student zoeken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758952" y="3085447"/>
            <a:ext cx="3511296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Aanpassen onbekende student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758952" y="3568773"/>
            <a:ext cx="3511296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Verwijderen uit lege lijst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758952" y="4052098"/>
            <a:ext cx="3511296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Menu-invoer fout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4343400" y="1097280"/>
            <a:ext cx="0" cy="3383280"/>
          </a:xfrm>
          <a:prstGeom prst="line">
            <a:avLst/>
          </a:prstGeom>
          <a:noFill/>
          <a:ln w="4445">
            <a:solidFill>
              <a:srgbClr val="D9D1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16552" y="1152144"/>
            <a:ext cx="3968496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Voorbeeld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416552" y="1635470"/>
            <a:ext cx="3968496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enter zonder tekst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416552" y="2118795"/>
            <a:ext cx="3968496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abc of -1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4416552" y="2602121"/>
            <a:ext cx="3968496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9999 bestaat niet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4416552" y="3085447"/>
            <a:ext cx="3968496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nette melding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4416552" y="3568773"/>
            <a:ext cx="3968496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geen crash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4416552" y="4052098"/>
            <a:ext cx="3968496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letters of 99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8458200" y="1097280"/>
            <a:ext cx="0" cy="3383280"/>
          </a:xfrm>
          <a:prstGeom prst="line">
            <a:avLst/>
          </a:prstGeom>
          <a:noFill/>
          <a:ln w="4445">
            <a:solidFill>
              <a:srgbClr val="D9D1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31352" y="1152144"/>
            <a:ext cx="2642616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Klaar?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531352" y="1635470"/>
            <a:ext cx="2642616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8531352" y="2118795"/>
            <a:ext cx="2642616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8531352" y="2602121"/>
            <a:ext cx="2642616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8531352" y="3085447"/>
            <a:ext cx="2642616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8531352" y="3568773"/>
            <a:ext cx="2642616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8531352" y="4052098"/>
            <a:ext cx="2642616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685800" y="1097280"/>
            <a:ext cx="10561320" cy="338328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D9D1C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0" y="5257800"/>
            <a:ext cx="667512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45625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52928" y="5330952"/>
            <a:ext cx="645566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21D31"/>
                </a:solidFill>
              </a:rPr>
              <a:t>Gebruik deze checklist als basis voor je testverslag.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20040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177"/>
                </a:solidFill>
              </a:rPr>
              <a:t>Les 6 · Inputvalidatie en testen | 10</a:t>
            </a:r>
            <a:endParaRPr lang="en-US" sz="550" dirty="0"/>
          </a:p>
        </p:txBody>
      </p:sp>
      <p:pic>
        <p:nvPicPr>
          <p:cNvPr id="38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808" y="6510528"/>
            <a:ext cx="181864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1D31"/>
                </a:solidFill>
              </a:rPr>
              <a:t>Buglog bijhouden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20040" y="786384"/>
            <a:ext cx="11064240" cy="0"/>
          </a:xfrm>
          <a:prstGeom prst="line">
            <a:avLst/>
          </a:prstGeom>
          <a:noFill/>
          <a:ln w="12700">
            <a:solidFill>
              <a:srgbClr val="D9D1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11018520" cy="548640"/>
          </a:xfrm>
          <a:prstGeom prst="rect">
            <a:avLst/>
          </a:prstGeom>
          <a:solidFill>
            <a:srgbClr val="121D31"/>
          </a:solidFill>
          <a:ln w="6350">
            <a:solidFill>
              <a:srgbClr val="121D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11018520" cy="548640"/>
          </a:xfrm>
          <a:prstGeom prst="rect">
            <a:avLst/>
          </a:prstGeom>
          <a:solidFill>
            <a:srgbClr val="FFFFFF"/>
          </a:solidFill>
          <a:ln w="4445">
            <a:solidFill>
              <a:srgbClr val="D9D1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11018520" cy="548640"/>
          </a:xfrm>
          <a:prstGeom prst="rect">
            <a:avLst/>
          </a:prstGeom>
          <a:solidFill>
            <a:srgbClr val="F7F3EC"/>
          </a:solidFill>
          <a:ln w="4445">
            <a:solidFill>
              <a:srgbClr val="D9D1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743200"/>
            <a:ext cx="11018520" cy="548640"/>
          </a:xfrm>
          <a:prstGeom prst="rect">
            <a:avLst/>
          </a:prstGeom>
          <a:solidFill>
            <a:srgbClr val="FFFFFF"/>
          </a:solidFill>
          <a:ln w="4445">
            <a:solidFill>
              <a:srgbClr val="D9D1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152144"/>
            <a:ext cx="241401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Bug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21792" y="1700784"/>
            <a:ext cx="241401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Programma crasht bij leeftijd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621792" y="2249424"/>
            <a:ext cx="241401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Lege klasnaam mogelijk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621792" y="2798064"/>
            <a:ext cx="241401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Verwijderen fout index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3108960" y="1097280"/>
            <a:ext cx="0" cy="2194560"/>
          </a:xfrm>
          <a:prstGeom prst="line">
            <a:avLst/>
          </a:prstGeom>
          <a:noFill/>
          <a:ln w="4445">
            <a:solidFill>
              <a:srgbClr val="D9D1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82112" y="1152144"/>
            <a:ext cx="296265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Stap om te vinden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182112" y="1700784"/>
            <a:ext cx="296265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Add student → age = abc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3182112" y="2249424"/>
            <a:ext cx="296265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Class name leeg laten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3182112" y="2798064"/>
            <a:ext cx="296265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Delete student uit lege lijst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217920" y="1097280"/>
            <a:ext cx="0" cy="2194560"/>
          </a:xfrm>
          <a:prstGeom prst="line">
            <a:avLst/>
          </a:prstGeom>
          <a:noFill/>
          <a:ln w="4445">
            <a:solidFill>
              <a:srgbClr val="D9D1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1152144"/>
            <a:ext cx="314553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Oplossing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91072" y="1700784"/>
            <a:ext cx="314553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TryParse gebruiken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6291072" y="2249424"/>
            <a:ext cx="314553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ReadRequiredText gebruiken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291072" y="2798064"/>
            <a:ext cx="314553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Eerst Count controleren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9509760" y="1097280"/>
            <a:ext cx="0" cy="2194560"/>
          </a:xfrm>
          <a:prstGeom prst="line">
            <a:avLst/>
          </a:prstGeom>
          <a:noFill/>
          <a:ln w="4445">
            <a:solidFill>
              <a:srgbClr val="D9D1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82912" y="1152144"/>
            <a:ext cx="191109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Status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582912" y="1700784"/>
            <a:ext cx="191109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Opgelost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9582912" y="2249424"/>
            <a:ext cx="191109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Open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9582912" y="2798064"/>
            <a:ext cx="191109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Open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548640" y="1097280"/>
            <a:ext cx="11018520" cy="219456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D9D1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8862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46F3A"/>
                </a:solidFill>
              </a:rPr>
              <a:t>Waarom?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14400" y="4251960"/>
            <a:ext cx="420624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50" dirty="0">
                <a:solidFill>
                  <a:srgbClr val="121D31"/>
                </a:solidFill>
              </a:rPr>
              <a:t>Je toont aan dat je hebt getest.</a:t>
            </a:r>
            <a:endParaRPr lang="en-US" sz="1350" dirty="0"/>
          </a:p>
          <a:p>
            <a:r>
              <a:rPr lang="en-US" sz="1350" dirty="0">
                <a:solidFill>
                  <a:srgbClr val="121D31"/>
                </a:solidFill>
              </a:rPr>
              <a:t>Je vergeet gevonden fouten minder snel.</a:t>
            </a:r>
            <a:endParaRPr lang="en-US" sz="1350" dirty="0"/>
          </a:p>
          <a:p>
            <a:r>
              <a:rPr lang="en-US" sz="1350" dirty="0">
                <a:solidFill>
                  <a:srgbClr val="121D31"/>
                </a:solidFill>
              </a:rPr>
              <a:t>Je reflectie wordt concreter.</a:t>
            </a:r>
            <a:endParaRPr lang="en-US" sz="1350" dirty="0"/>
          </a:p>
          <a:p>
            <a:r>
              <a:rPr lang="en-US" sz="1350" dirty="0">
                <a:solidFill>
                  <a:srgbClr val="121D31"/>
                </a:solidFill>
              </a:rPr>
              <a:t>De docent ziet je proces.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00800" y="3977640"/>
            <a:ext cx="4480560" cy="1005840"/>
          </a:xfrm>
          <a:prstGeom prst="rect">
            <a:avLst/>
          </a:prstGeom>
          <a:solidFill>
            <a:srgbClr val="121D31"/>
          </a:solidFill>
          <a:ln w="12700">
            <a:solidFill>
              <a:srgbClr val="121D3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47104" y="4114800"/>
            <a:ext cx="418795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Buglog is geen extra programma.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Het mag gewoon een tabel in je verslag zijn.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0040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177"/>
                </a:solidFill>
              </a:rPr>
              <a:t>Les 6 · Inputvalidatie en testen | 11</a:t>
            </a:r>
            <a:endParaRPr lang="en-US" sz="550" dirty="0"/>
          </a:p>
        </p:txBody>
      </p:sp>
      <p:pic>
        <p:nvPicPr>
          <p:cNvPr id="33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808" y="6510528"/>
            <a:ext cx="181864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1D31"/>
                </a:solidFill>
              </a:rPr>
              <a:t>Richting afronding: code freeze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20040" y="786384"/>
            <a:ext cx="11064240" cy="0"/>
          </a:xfrm>
          <a:prstGeom prst="line">
            <a:avLst/>
          </a:prstGeom>
          <a:noFill/>
          <a:ln w="12700">
            <a:solidFill>
              <a:srgbClr val="D9D1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46F3A"/>
                </a:solidFill>
              </a:rPr>
              <a:t>Vanaf nu eerst stabiliseren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457200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00" dirty="0">
                <a:solidFill>
                  <a:srgbClr val="121D31"/>
                </a:solidFill>
              </a:rPr>
              <a:t>Nieuwe features alleen als de basis werkt.</a:t>
            </a:r>
            <a:endParaRPr lang="en-US" sz="1500" dirty="0"/>
          </a:p>
          <a:p>
            <a:r>
              <a:rPr lang="en-US" sz="1500" dirty="0">
                <a:solidFill>
                  <a:srgbClr val="121D31"/>
                </a:solidFill>
              </a:rPr>
              <a:t>Geen grote structuurwijzigingen zonder reden.</a:t>
            </a:r>
            <a:endParaRPr lang="en-US" sz="1500" dirty="0"/>
          </a:p>
          <a:p>
            <a:r>
              <a:rPr lang="en-US" sz="1500" dirty="0">
                <a:solidFill>
                  <a:srgbClr val="121D31"/>
                </a:solidFill>
              </a:rPr>
              <a:t>Elke wijziging direct testen.</a:t>
            </a:r>
            <a:endParaRPr lang="en-US" sz="1500" dirty="0"/>
          </a:p>
          <a:p>
            <a:r>
              <a:rPr lang="en-US" sz="1500" dirty="0">
                <a:solidFill>
                  <a:srgbClr val="121D31"/>
                </a:solidFill>
              </a:rPr>
              <a:t>Niet alles in Main laten groeien.</a:t>
            </a:r>
            <a:endParaRPr lang="en-US" sz="1500" dirty="0"/>
          </a:p>
          <a:p>
            <a:r>
              <a:rPr lang="en-US" sz="1500" dirty="0">
                <a:solidFill>
                  <a:srgbClr val="121D31"/>
                </a:solidFill>
              </a:rPr>
              <a:t>Inleverproducten alvast verzamelen.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1234440"/>
            <a:ext cx="3931920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4562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10528" y="1307592"/>
            <a:ext cx="3712464" cy="3099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1D31"/>
                </a:solidFill>
              </a:rPr>
              <a:t>Basis vóór uitbreiding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1D31"/>
                </a:solidFill>
              </a:rPr>
              <a:t>1. Student toevoegen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1D31"/>
                </a:solidFill>
              </a:rPr>
              <a:t>2. Studenten bekijken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1D31"/>
                </a:solidFill>
              </a:rPr>
              <a:t>3. Student zoeken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1D31"/>
                </a:solidFill>
              </a:rPr>
              <a:t>4. Student aanpassen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1D31"/>
                </a:solidFill>
              </a:rPr>
              <a:t>5. Student verwijderen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1D31"/>
                </a:solidFill>
              </a:rPr>
              <a:t>6. Geen crashes bij simpele fouten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0240" y="5257800"/>
            <a:ext cx="81381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46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29968" y="5330952"/>
            <a:ext cx="791870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21D31"/>
                </a:solidFill>
              </a:rPr>
              <a:t>Vandaag is betrouwbaarheid belangrijker dan veel extra opties.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177"/>
                </a:solidFill>
              </a:rPr>
              <a:t>Les 6 · Inputvalidatie en testen | 12</a:t>
            </a:r>
            <a:endParaRPr lang="en-US" sz="550" dirty="0"/>
          </a:p>
        </p:txBody>
      </p:sp>
      <p:pic>
        <p:nvPicPr>
          <p:cNvPr id="11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808" y="6510528"/>
            <a:ext cx="181864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1D31"/>
                </a:solidFill>
              </a:rPr>
              <a:t>Opdracht les 6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20040" y="786384"/>
            <a:ext cx="11064240" cy="0"/>
          </a:xfrm>
          <a:prstGeom prst="line">
            <a:avLst/>
          </a:prstGeom>
          <a:noFill/>
          <a:ln w="12700">
            <a:solidFill>
              <a:srgbClr val="D9D1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51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46F3A"/>
                </a:solidFill>
              </a:rPr>
              <a:t>Maak het programma robuuster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475488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00" dirty="0">
                <a:solidFill>
                  <a:srgbClr val="121D31"/>
                </a:solidFill>
              </a:rPr>
              <a:t>Voeg ReadInt toe.</a:t>
            </a:r>
            <a:endParaRPr lang="en-US" sz="1500" dirty="0"/>
          </a:p>
          <a:p>
            <a:r>
              <a:rPr lang="en-US" sz="1500" dirty="0">
                <a:solidFill>
                  <a:srgbClr val="121D31"/>
                </a:solidFill>
              </a:rPr>
              <a:t>Voeg ReadRequiredText toe.</a:t>
            </a:r>
            <a:endParaRPr lang="en-US" sz="1500" dirty="0"/>
          </a:p>
          <a:p>
            <a:r>
              <a:rPr lang="en-US" sz="1500" dirty="0">
                <a:solidFill>
                  <a:srgbClr val="121D31"/>
                </a:solidFill>
              </a:rPr>
              <a:t>Controleer minimaal drie foutieve situaties.</a:t>
            </a:r>
            <a:endParaRPr lang="en-US" sz="1500" dirty="0"/>
          </a:p>
          <a:p>
            <a:r>
              <a:rPr lang="en-US" sz="1500" dirty="0">
                <a:solidFill>
                  <a:srgbClr val="121D31"/>
                </a:solidFill>
              </a:rPr>
              <a:t>Maak een testchecklist.</a:t>
            </a:r>
            <a:endParaRPr lang="en-US" sz="1500" dirty="0"/>
          </a:p>
          <a:p>
            <a:r>
              <a:rPr lang="en-US" sz="1500" dirty="0">
                <a:solidFill>
                  <a:srgbClr val="121D31"/>
                </a:solidFill>
              </a:rPr>
              <a:t>Maak een buglog met minimaal drie regels.</a:t>
            </a:r>
            <a:endParaRPr lang="en-US" sz="1500" dirty="0"/>
          </a:p>
          <a:p>
            <a:r>
              <a:rPr lang="en-US" sz="1500" dirty="0">
                <a:solidFill>
                  <a:srgbClr val="121D31"/>
                </a:solidFill>
              </a:rPr>
              <a:t>Los minimaal twee bugs op.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0" y="1051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46F3A"/>
                </a:solidFill>
              </a:rPr>
              <a:t>Klaar? Extra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92240" y="1417320"/>
            <a:ext cx="393192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121D31"/>
                </a:solidFill>
              </a:rPr>
              <a:t>Controleer dubbele studentnummers.</a:t>
            </a:r>
            <a:endParaRPr lang="en-US" sz="1400" dirty="0"/>
          </a:p>
          <a:p>
            <a:r>
              <a:rPr lang="en-US" sz="1400" dirty="0">
                <a:solidFill>
                  <a:srgbClr val="121D31"/>
                </a:solidFill>
              </a:rPr>
              <a:t>Maak een Lesson class.</a:t>
            </a:r>
            <a:endParaRPr lang="en-US" sz="1400" dirty="0"/>
          </a:p>
          <a:p>
            <a:r>
              <a:rPr lang="en-US" sz="1400" dirty="0">
                <a:solidFill>
                  <a:srgbClr val="121D31"/>
                </a:solidFill>
              </a:rPr>
              <a:t>Maak een Classroom als tekstveld verplicht.</a:t>
            </a:r>
            <a:endParaRPr lang="en-US" sz="1400" dirty="0"/>
          </a:p>
          <a:p>
            <a:r>
              <a:rPr lang="en-US" sz="1400" dirty="0">
                <a:solidFill>
                  <a:srgbClr val="121D31"/>
                </a:solidFill>
              </a:rPr>
              <a:t>Voeg sorteren op achternaam toe.</a:t>
            </a:r>
            <a:endParaRPr lang="en-US" sz="1400" dirty="0"/>
          </a:p>
          <a:p>
            <a:r>
              <a:rPr lang="en-US" sz="1400" dirty="0">
                <a:solidFill>
                  <a:srgbClr val="121D31"/>
                </a:solidFill>
              </a:rPr>
              <a:t>Laat een nette samenvatting zien.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31720" y="5303520"/>
            <a:ext cx="713232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46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41448" y="5376672"/>
            <a:ext cx="691286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21D31"/>
                </a:solidFill>
              </a:rPr>
              <a:t>Lever vandaag minimaal code + eerste testverslag op.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177"/>
                </a:solidFill>
              </a:rPr>
              <a:t>Les 6 · Inputvalidatie en testen | 13</a:t>
            </a:r>
            <a:endParaRPr lang="en-US" sz="550" dirty="0"/>
          </a:p>
        </p:txBody>
      </p:sp>
      <p:pic>
        <p:nvPicPr>
          <p:cNvPr id="11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808" y="6510528"/>
            <a:ext cx="181864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1D31"/>
                </a:solidFill>
              </a:rPr>
              <a:t>Voorbeeld testverslag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20040" y="786384"/>
            <a:ext cx="11064240" cy="0"/>
          </a:xfrm>
          <a:prstGeom prst="line">
            <a:avLst/>
          </a:prstGeom>
          <a:noFill/>
          <a:ln w="12700">
            <a:solidFill>
              <a:srgbClr val="D9D1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97280"/>
            <a:ext cx="11384280" cy="495300"/>
          </a:xfrm>
          <a:prstGeom prst="rect">
            <a:avLst/>
          </a:prstGeom>
          <a:solidFill>
            <a:srgbClr val="121D31"/>
          </a:solidFill>
          <a:ln w="6350">
            <a:solidFill>
              <a:srgbClr val="121D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592580"/>
            <a:ext cx="11384280" cy="495300"/>
          </a:xfrm>
          <a:prstGeom prst="rect">
            <a:avLst/>
          </a:prstGeom>
          <a:solidFill>
            <a:srgbClr val="FFFFFF"/>
          </a:solidFill>
          <a:ln w="4445">
            <a:solidFill>
              <a:srgbClr val="D9D1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087880"/>
            <a:ext cx="11384280" cy="495300"/>
          </a:xfrm>
          <a:prstGeom prst="rect">
            <a:avLst/>
          </a:prstGeom>
          <a:solidFill>
            <a:srgbClr val="F7F3EC"/>
          </a:solidFill>
          <a:ln w="4445">
            <a:solidFill>
              <a:srgbClr val="D9D1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2583180"/>
            <a:ext cx="11384280" cy="495300"/>
          </a:xfrm>
          <a:prstGeom prst="rect">
            <a:avLst/>
          </a:prstGeom>
          <a:solidFill>
            <a:srgbClr val="FFFFFF"/>
          </a:solidFill>
          <a:ln w="4445">
            <a:solidFill>
              <a:srgbClr val="D9D1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3078480"/>
            <a:ext cx="11384280" cy="495300"/>
          </a:xfrm>
          <a:prstGeom prst="rect">
            <a:avLst/>
          </a:prstGeom>
          <a:solidFill>
            <a:srgbClr val="F7F3EC"/>
          </a:solidFill>
          <a:ln w="4445">
            <a:solidFill>
              <a:srgbClr val="D9D1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3573780"/>
            <a:ext cx="11384280" cy="495300"/>
          </a:xfrm>
          <a:prstGeom prst="rect">
            <a:avLst/>
          </a:prstGeom>
          <a:solidFill>
            <a:srgbClr val="FFFFFF"/>
          </a:solidFill>
          <a:ln w="4445">
            <a:solidFill>
              <a:srgbClr val="D9D1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152144"/>
            <a:ext cx="2002536" cy="3855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Test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84632" y="1647444"/>
            <a:ext cx="2002536" cy="3855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Student toevoegen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484632" y="2142744"/>
            <a:ext cx="2002536" cy="3855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Lege voornaam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484632" y="2638044"/>
            <a:ext cx="2002536" cy="3855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Zoeken onbekend nummer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484632" y="3133344"/>
            <a:ext cx="2002536" cy="3855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Menu met letters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484632" y="3628644"/>
            <a:ext cx="2002536" cy="3855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Verwijderen lege lijst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560320" y="1097280"/>
            <a:ext cx="0" cy="2971800"/>
          </a:xfrm>
          <a:prstGeom prst="line">
            <a:avLst/>
          </a:prstGeom>
          <a:noFill/>
          <a:ln w="4445">
            <a:solidFill>
              <a:srgbClr val="D9D1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33472" y="1152144"/>
            <a:ext cx="2276856" cy="3855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Invoer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633472" y="1647444"/>
            <a:ext cx="2276856" cy="3855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Jan, Jansen, 1001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2633472" y="2142744"/>
            <a:ext cx="2276856" cy="3855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2633472" y="2638044"/>
            <a:ext cx="2276856" cy="3855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9999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2633472" y="3133344"/>
            <a:ext cx="2276856" cy="3855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abc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2633472" y="3628644"/>
            <a:ext cx="2276856" cy="3855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1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4983480" y="1097280"/>
            <a:ext cx="0" cy="2971800"/>
          </a:xfrm>
          <a:prstGeom prst="line">
            <a:avLst/>
          </a:prstGeom>
          <a:noFill/>
          <a:ln w="4445">
            <a:solidFill>
              <a:srgbClr val="D9D1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56632" y="1152144"/>
            <a:ext cx="3511296" cy="3855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Verwacht resultaat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56632" y="1647444"/>
            <a:ext cx="3511296" cy="3855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Student staat in lijst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5056632" y="2142744"/>
            <a:ext cx="3511296" cy="3855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Foutmelding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5056632" y="2638044"/>
            <a:ext cx="3511296" cy="3855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Student not found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5056632" y="3133344"/>
            <a:ext cx="3511296" cy="3855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Invalid number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5056632" y="3628644"/>
            <a:ext cx="3511296" cy="3855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Nette melding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8641080" y="1097280"/>
            <a:ext cx="0" cy="2971800"/>
          </a:xfrm>
          <a:prstGeom prst="line">
            <a:avLst/>
          </a:prstGeom>
          <a:noFill/>
          <a:ln w="4445">
            <a:solidFill>
              <a:srgbClr val="D9D1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14232" y="1152144"/>
            <a:ext cx="3008376" cy="3855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Resultaat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714232" y="1647444"/>
            <a:ext cx="3008376" cy="3855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OK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8714232" y="2142744"/>
            <a:ext cx="3008376" cy="3855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OK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8714232" y="2638044"/>
            <a:ext cx="3008376" cy="3855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OK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8714232" y="3133344"/>
            <a:ext cx="3008376" cy="3855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OK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8714232" y="3628644"/>
            <a:ext cx="3008376" cy="3855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21D31"/>
                </a:solidFill>
              </a:rPr>
              <a:t>Nog fout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411480" y="1097280"/>
            <a:ext cx="11384280" cy="297180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D9D1C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91640" y="5074920"/>
            <a:ext cx="86868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45625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01368" y="5148072"/>
            <a:ext cx="84673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21D31"/>
                </a:solidFill>
              </a:rPr>
              <a:t>Een testverslag hoeft niet lang te zijn. Het moet wel bewijzen dat je gericht hebt getest.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20040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177"/>
                </a:solidFill>
              </a:rPr>
              <a:t>Les 6 · Inputvalidatie en testen | 14</a:t>
            </a:r>
            <a:endParaRPr lang="en-US" sz="550" dirty="0"/>
          </a:p>
        </p:txBody>
      </p:sp>
      <p:pic>
        <p:nvPicPr>
          <p:cNvPr id="41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808" y="6510528"/>
            <a:ext cx="181864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1D31"/>
                </a:solidFill>
              </a:rPr>
              <a:t>Afsluiting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20040" y="786384"/>
            <a:ext cx="11064240" cy="0"/>
          </a:xfrm>
          <a:prstGeom prst="line">
            <a:avLst/>
          </a:prstGeom>
          <a:noFill/>
          <a:ln w="12700">
            <a:solidFill>
              <a:srgbClr val="D9D1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51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46F3A"/>
                </a:solidFill>
              </a:rPr>
              <a:t>Laat zien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484632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00" dirty="0">
                <a:solidFill>
                  <a:srgbClr val="121D31"/>
                </a:solidFill>
              </a:rPr>
              <a:t>Waar ReadInt staat.</a:t>
            </a:r>
            <a:endParaRPr lang="en-US" sz="1500" dirty="0"/>
          </a:p>
          <a:p>
            <a:r>
              <a:rPr lang="en-US" sz="1500" dirty="0">
                <a:solidFill>
                  <a:srgbClr val="121D31"/>
                </a:solidFill>
              </a:rPr>
              <a:t>Waar ReadRequiredText staat.</a:t>
            </a:r>
            <a:endParaRPr lang="en-US" sz="1500" dirty="0"/>
          </a:p>
          <a:p>
            <a:r>
              <a:rPr lang="en-US" sz="1500" dirty="0">
                <a:solidFill>
                  <a:srgbClr val="121D31"/>
                </a:solidFill>
              </a:rPr>
              <a:t>Welke fouten je hebt getest.</a:t>
            </a:r>
            <a:endParaRPr lang="en-US" sz="1500" dirty="0"/>
          </a:p>
          <a:p>
            <a:r>
              <a:rPr lang="en-US" sz="1500" dirty="0">
                <a:solidFill>
                  <a:srgbClr val="121D31"/>
                </a:solidFill>
              </a:rPr>
              <a:t>Welke bugs je hebt opgelost.</a:t>
            </a:r>
            <a:endParaRPr lang="en-US" sz="1500" dirty="0"/>
          </a:p>
          <a:p>
            <a:r>
              <a:rPr lang="en-US" sz="1500" dirty="0">
                <a:solidFill>
                  <a:srgbClr val="121D31"/>
                </a:solidFill>
              </a:rPr>
              <a:t>Wat nog moet gebeuren voor oplevering.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0" y="1188720"/>
            <a:ext cx="4023360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4562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93408" y="1261872"/>
            <a:ext cx="3803904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1D31"/>
                </a:solidFill>
              </a:rPr>
              <a:t>Controle-vraag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1D31"/>
                </a:solidFill>
              </a:rPr>
              <a:t>Waarom is een programma dat minder opties heeft, maar niet crasht, vaak beter dan een programma met veel half werkende opties?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3794760"/>
            <a:ext cx="4023360" cy="1188720"/>
          </a:xfrm>
          <a:prstGeom prst="rect">
            <a:avLst/>
          </a:prstGeom>
          <a:solidFill>
            <a:srgbClr val="121D31"/>
          </a:solidFill>
          <a:ln w="12700">
            <a:solidFill>
              <a:srgbClr val="121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9984" y="3931920"/>
            <a:ext cx="373075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(students.Count == 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Console.WriteLine("No students found.");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656539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177"/>
                </a:solidFill>
              </a:rPr>
              <a:t>Les 6 · Inputvalidatie en testen | 15</a:t>
            </a:r>
            <a:endParaRPr lang="en-US" sz="550" dirty="0"/>
          </a:p>
        </p:txBody>
      </p:sp>
      <p:pic>
        <p:nvPicPr>
          <p:cNvPr id="11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808" y="6510528"/>
            <a:ext cx="181864" cy="182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Mediacollege Amsterdam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Les 6 - Inputvalidatie en testen</dc:title>
  <dc:subject>C# Les 6 - Inputvalidatie en testen</dc:subject>
  <dc:creator>Jesse Wissink</dc:creator>
  <cp:lastModifiedBy>Jesse Wissink</cp:lastModifiedBy>
  <cp:revision>1</cp:revision>
  <dcterms:created xsi:type="dcterms:W3CDTF">2026-06-08T07:20:05Z</dcterms:created>
  <dcterms:modified xsi:type="dcterms:W3CDTF">2026-06-08T07:20:05Z</dcterms:modified>
</cp:coreProperties>
</file>