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7" r:id="rId7"/>
    <p:sldId id="268" r:id="rId8"/>
    <p:sldId id="258" r:id="rId9"/>
    <p:sldId id="272" r:id="rId10"/>
    <p:sldId id="271" r:id="rId11"/>
    <p:sldId id="269" r:id="rId12"/>
    <p:sldId id="27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Tilemaps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0FD150A-F37A-99BA-45AE-066FD046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02828" y="216310"/>
            <a:ext cx="12298750" cy="657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0E6194B-3C49-6719-D0E3-25D81609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cellBounds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152DD7D-C7CB-F280-A447-595B9AB8891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SerializeField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BoundsInt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Start()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myTilemap.cellBounds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A7C7541-79CF-D833-CCE4-536CAB93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784" y="5307249"/>
            <a:ext cx="453453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8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DB707-AB32-D122-E661-8FD7F9C4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CellBounds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43C5FD52-9E3B-87CF-C494-8178E57EA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384" y="2649636"/>
            <a:ext cx="5068007" cy="3219899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4F1E30A8-8F9D-C306-7BCE-C75D685BAA2E}"/>
              </a:ext>
            </a:extLst>
          </p:cNvPr>
          <p:cNvCxnSpPr>
            <a:cxnSpLocks/>
          </p:cNvCxnSpPr>
          <p:nvPr/>
        </p:nvCxnSpPr>
        <p:spPr>
          <a:xfrm flipV="1">
            <a:off x="3579779" y="2360747"/>
            <a:ext cx="411804" cy="9682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A05EC34E-A8FA-C87B-6B40-D4BFE1BAF03C}"/>
              </a:ext>
            </a:extLst>
          </p:cNvPr>
          <p:cNvSpPr txBox="1"/>
          <p:nvPr/>
        </p:nvSpPr>
        <p:spPr>
          <a:xfrm>
            <a:off x="5051086" y="84324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BoundsInt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tilemap.cellBounds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302623E3-6240-1F4B-AB8F-F67D0B3A6948}"/>
              </a:ext>
            </a:extLst>
          </p:cNvPr>
          <p:cNvSpPr txBox="1"/>
          <p:nvPr/>
        </p:nvSpPr>
        <p:spPr>
          <a:xfrm>
            <a:off x="2679160" y="199141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Vector3Int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position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bounds.position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491EE298-4AA6-16DB-479F-A0E2111FEECF}"/>
              </a:ext>
            </a:extLst>
          </p:cNvPr>
          <p:cNvSpPr txBox="1"/>
          <p:nvPr/>
        </p:nvSpPr>
        <p:spPr>
          <a:xfrm>
            <a:off x="3426568" y="640736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bounds.size.x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7149F981-2761-A7CC-C000-75014DDEA7C1}"/>
              </a:ext>
            </a:extLst>
          </p:cNvPr>
          <p:cNvCxnSpPr>
            <a:cxnSpLocks/>
          </p:cNvCxnSpPr>
          <p:nvPr/>
        </p:nvCxnSpPr>
        <p:spPr>
          <a:xfrm>
            <a:off x="8540885" y="3180946"/>
            <a:ext cx="0" cy="225815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CA45215D-A4B8-2A6B-FB20-359C38EA9A8F}"/>
              </a:ext>
            </a:extLst>
          </p:cNvPr>
          <p:cNvCxnSpPr/>
          <p:nvPr/>
        </p:nvCxnSpPr>
        <p:spPr>
          <a:xfrm>
            <a:off x="3426568" y="6310008"/>
            <a:ext cx="411236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8C5D0D57-A38E-7580-5B0B-7D4CC5AF7586}"/>
              </a:ext>
            </a:extLst>
          </p:cNvPr>
          <p:cNvCxnSpPr/>
          <p:nvPr/>
        </p:nvCxnSpPr>
        <p:spPr>
          <a:xfrm>
            <a:off x="3426568" y="5370932"/>
            <a:ext cx="0" cy="10655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5B4CC3CF-3863-6766-C37D-4ACCB3464E5D}"/>
              </a:ext>
            </a:extLst>
          </p:cNvPr>
          <p:cNvCxnSpPr/>
          <p:nvPr/>
        </p:nvCxnSpPr>
        <p:spPr>
          <a:xfrm>
            <a:off x="7557581" y="5341752"/>
            <a:ext cx="0" cy="10655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C950FE51-B85F-78CF-F96B-60D25CDEA90A}"/>
              </a:ext>
            </a:extLst>
          </p:cNvPr>
          <p:cNvCxnSpPr>
            <a:cxnSpLocks/>
          </p:cNvCxnSpPr>
          <p:nvPr/>
        </p:nvCxnSpPr>
        <p:spPr>
          <a:xfrm>
            <a:off x="7247106" y="3180946"/>
            <a:ext cx="15264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1A71F544-BA40-123F-03FD-ADE3B60EAAA4}"/>
              </a:ext>
            </a:extLst>
          </p:cNvPr>
          <p:cNvCxnSpPr>
            <a:cxnSpLocks/>
          </p:cNvCxnSpPr>
          <p:nvPr/>
        </p:nvCxnSpPr>
        <p:spPr>
          <a:xfrm>
            <a:off x="7276289" y="5439105"/>
            <a:ext cx="148914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kstvak 46">
            <a:extLst>
              <a:ext uri="{FF2B5EF4-FFF2-40B4-BE49-F238E27FC236}">
                <a16:creationId xmlns:a16="http://schemas.microsoft.com/office/drawing/2014/main" id="{38FDCBC1-3228-2858-E3DA-73DDED776747}"/>
              </a:ext>
            </a:extLst>
          </p:cNvPr>
          <p:cNvSpPr txBox="1"/>
          <p:nvPr/>
        </p:nvSpPr>
        <p:spPr>
          <a:xfrm rot="5400000">
            <a:off x="6988948" y="3750669"/>
            <a:ext cx="397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bounds.size.y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09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28963-C601-4883-2403-087788F5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Iteratie</a:t>
            </a:r>
            <a:r>
              <a:rPr lang="en-US" dirty="0"/>
              <a:t> door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003A94F-A6CB-D161-2A53-A9A703B5A1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3191" y="1825625"/>
            <a:ext cx="9824937" cy="2549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bounds.size.x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i++)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0; j &lt;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{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pos = new Vector3Int(i, j, 0);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B722914A-3742-B46C-7B07-01655CCA8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252627"/>
              </p:ext>
            </p:extLst>
          </p:nvPr>
        </p:nvGraphicFramePr>
        <p:xfrm>
          <a:off x="1511391" y="4632124"/>
          <a:ext cx="4704893" cy="16591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21775">
                  <a:extLst>
                    <a:ext uri="{9D8B030D-6E8A-4147-A177-3AD203B41FA5}">
                      <a16:colId xmlns:a16="http://schemas.microsoft.com/office/drawing/2014/main" val="1220354446"/>
                    </a:ext>
                  </a:extLst>
                </a:gridCol>
                <a:gridCol w="1017793">
                  <a:extLst>
                    <a:ext uri="{9D8B030D-6E8A-4147-A177-3AD203B41FA5}">
                      <a16:colId xmlns:a16="http://schemas.microsoft.com/office/drawing/2014/main" val="589541171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1101573143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750188402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2243019812"/>
                    </a:ext>
                  </a:extLst>
                </a:gridCol>
              </a:tblGrid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 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i=0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i=1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i=2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i=3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746952894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j=0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(0,0)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783382787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j=1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424956205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j=2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464875071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j=3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938838715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j=4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(0,4)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(1,4)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(2,4)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(3,4)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53117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79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BF85-2007-F81B-6C0C-6D6D144B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48729-92E0-8B0C-E8B5-2BE75CD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CellBounds</a:t>
            </a:r>
            <a:endParaRPr lang="nl-NL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0810A10-597A-5208-76BF-E97ECB484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990220"/>
              </p:ext>
            </p:extLst>
          </p:nvPr>
        </p:nvGraphicFramePr>
        <p:xfrm>
          <a:off x="6814062" y="4585295"/>
          <a:ext cx="4539738" cy="1659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1351">
                  <a:extLst>
                    <a:ext uri="{9D8B030D-6E8A-4147-A177-3AD203B41FA5}">
                      <a16:colId xmlns:a16="http://schemas.microsoft.com/office/drawing/2014/main" val="3919282760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600582268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2218277501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1181517442"/>
                    </a:ext>
                  </a:extLst>
                </a:gridCol>
              </a:tblGrid>
              <a:tr h="331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(-2,2)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(-1,2)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(0,2)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(1,2)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029890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(-2,1)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 dirty="0">
                          <a:effectLst/>
                        </a:rPr>
                        <a:t>(-1,1)</a:t>
                      </a:r>
                      <a:endParaRPr lang="nl-NL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(0,1)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(1,1)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26572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(-2,0)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(-1,0)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(0,0)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(1,0)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507696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(-2,-1)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(-1,-1)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(0,-1)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(1,-1)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17263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(-2,-2)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(-1,-2)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(0,-2)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2000" u="none" strike="noStrike" dirty="0">
                          <a:effectLst/>
                        </a:rPr>
                        <a:t>(1,-2)</a:t>
                      </a:r>
                      <a:endParaRPr lang="nl-NL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27" marR="13827" marT="138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974490"/>
                  </a:ext>
                </a:extLst>
              </a:tr>
            </a:tbl>
          </a:graphicData>
        </a:graphic>
      </p:graphicFrame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C6845668-62AE-B96A-76A7-D6D8EB82D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51228"/>
              </p:ext>
            </p:extLst>
          </p:nvPr>
        </p:nvGraphicFramePr>
        <p:xfrm>
          <a:off x="931287" y="2784986"/>
          <a:ext cx="4704893" cy="16591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21775">
                  <a:extLst>
                    <a:ext uri="{9D8B030D-6E8A-4147-A177-3AD203B41FA5}">
                      <a16:colId xmlns:a16="http://schemas.microsoft.com/office/drawing/2014/main" val="1220354446"/>
                    </a:ext>
                  </a:extLst>
                </a:gridCol>
                <a:gridCol w="1017793">
                  <a:extLst>
                    <a:ext uri="{9D8B030D-6E8A-4147-A177-3AD203B41FA5}">
                      <a16:colId xmlns:a16="http://schemas.microsoft.com/office/drawing/2014/main" val="589541171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1101573143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750188402"/>
                    </a:ext>
                  </a:extLst>
                </a:gridCol>
                <a:gridCol w="921775">
                  <a:extLst>
                    <a:ext uri="{9D8B030D-6E8A-4147-A177-3AD203B41FA5}">
                      <a16:colId xmlns:a16="http://schemas.microsoft.com/office/drawing/2014/main" val="2243019812"/>
                    </a:ext>
                  </a:extLst>
                </a:gridCol>
              </a:tblGrid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 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i=0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i=1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i=2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i=3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746952894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j=0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(0,0)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(3,0)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783382787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j=1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(3,1)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424956205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j=2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(3,2)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464875071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j=3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(0,3)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(3,3)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3938838715"/>
                  </a:ext>
                </a:extLst>
              </a:tr>
              <a:tr h="2765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j=4</a:t>
                      </a:r>
                      <a:endParaRPr lang="nl-NL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(0,4)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(1,4)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>
                          <a:effectLst/>
                        </a:rPr>
                        <a:t>(2,4)</a:t>
                      </a:r>
                      <a:endParaRPr lang="nl-NL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NL" sz="1700" u="none" strike="noStrike" dirty="0">
                          <a:effectLst/>
                        </a:rPr>
                        <a:t>(3,4)</a:t>
                      </a:r>
                      <a:endParaRPr lang="nl-NL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22" marR="11522" marT="11522" marB="0" anchor="b"/>
                </a:tc>
                <a:extLst>
                  <a:ext uri="{0D108BD9-81ED-4DB2-BD59-A6C34878D82A}">
                    <a16:rowId xmlns:a16="http://schemas.microsoft.com/office/drawing/2014/main" val="531177830"/>
                  </a:ext>
                </a:extLst>
              </a:tr>
            </a:tbl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66E9BFE6-30A3-1C10-1DA1-9784B43A49F1}"/>
              </a:ext>
            </a:extLst>
          </p:cNvPr>
          <p:cNvSpPr txBox="1"/>
          <p:nvPr/>
        </p:nvSpPr>
        <p:spPr>
          <a:xfrm>
            <a:off x="2526623" y="4909307"/>
            <a:ext cx="1792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Iteratie</a:t>
            </a:r>
            <a:endParaRPr lang="nl-NL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EF2BC50-EF8B-6553-B1EB-1BF35C5F8900}"/>
              </a:ext>
            </a:extLst>
          </p:cNvPr>
          <p:cNvSpPr txBox="1"/>
          <p:nvPr/>
        </p:nvSpPr>
        <p:spPr>
          <a:xfrm>
            <a:off x="8073685" y="6346568"/>
            <a:ext cx="1792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Tilemap</a:t>
            </a:r>
            <a:endParaRPr lang="nl-NL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00255BB5-2644-4736-DCA7-2F1E4F7EE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62" y="508162"/>
            <a:ext cx="4615938" cy="352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7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5CA3E-C9D6-04E4-C92D-157A40F1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Declareren</a:t>
            </a:r>
            <a:r>
              <a:rPr lang="en-US" dirty="0"/>
              <a:t> van de </a:t>
            </a:r>
            <a:r>
              <a:rPr lang="en-US" dirty="0" err="1"/>
              <a:t>CellBounds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2A7417-122E-94DF-F517-CEF372CF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nl-NL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SerializeField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BoundsInt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x0, y0;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Start()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myTilemap.cellBounds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bounds.size.x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bounds.size.y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x0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bounds.xMin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y0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bounds.yMin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6102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20D8FC-382C-B5EA-D779-45349483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Itereren door de </a:t>
            </a:r>
            <a:r>
              <a:rPr lang="en-US" dirty="0" err="1"/>
              <a:t>tileMap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F7A839-018C-2BAB-AD78-0E33900F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 = 0 + x0; i &lt; 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bounds.size.x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i++)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j = 0 + y0; j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bounds.size.y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{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pos = new Vector3Int(i, j, 0);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651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7ED14-CDC6-93A9-CE11-A43635FE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BD3B470-FCAE-284D-5F76-F0ACFAE01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Itereer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muisklik</a:t>
            </a:r>
            <a:r>
              <a:rPr lang="en-US" dirty="0"/>
              <a:t> door de </a:t>
            </a:r>
            <a:r>
              <a:rPr lang="en-US" dirty="0" err="1"/>
              <a:t>tilemap</a:t>
            </a:r>
            <a:r>
              <a:rPr lang="en-US" dirty="0"/>
              <a:t> </a:t>
            </a:r>
            <a:r>
              <a:rPr lang="en-US" dirty="0" err="1"/>
              <a:t>en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kleur</a:t>
            </a:r>
            <a:r>
              <a:rPr lang="en-US" dirty="0"/>
              <a:t> de cell die de </a:t>
            </a:r>
            <a:r>
              <a:rPr lang="en-US" dirty="0" err="1"/>
              <a:t>muis</a:t>
            </a:r>
            <a:r>
              <a:rPr lang="en-US" dirty="0"/>
              <a:t> </a:t>
            </a:r>
            <a:r>
              <a:rPr lang="en-US" dirty="0" err="1"/>
              <a:t>aanwijst</a:t>
            </a:r>
            <a:r>
              <a:rPr lang="en-US" dirty="0"/>
              <a:t> rood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kleur</a:t>
            </a:r>
            <a:r>
              <a:rPr lang="en-US" dirty="0"/>
              <a:t> alle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cellen</a:t>
            </a:r>
            <a:r>
              <a:rPr lang="en-US" dirty="0"/>
              <a:t> (die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aangewezen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) wit</a:t>
            </a:r>
          </a:p>
          <a:p>
            <a:r>
              <a:rPr lang="en-US" dirty="0"/>
              <a:t>	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6786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Props1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4757</TotalTime>
  <Words>604</Words>
  <Application>Microsoft Office PowerPoint</Application>
  <PresentationFormat>Breedbeeld</PresentationFormat>
  <Paragraphs>144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Cascadia Mono</vt:lpstr>
      <vt:lpstr>Courier New</vt:lpstr>
      <vt:lpstr>Kantoorthema</vt:lpstr>
      <vt:lpstr>Tilemaps</vt:lpstr>
      <vt:lpstr>PowerPoint-presentatie</vt:lpstr>
      <vt:lpstr>Drie posities van belang</vt:lpstr>
      <vt:lpstr>De cellBounds</vt:lpstr>
      <vt:lpstr>De CellBounds</vt:lpstr>
      <vt:lpstr>Iteratie door een TileMap</vt:lpstr>
      <vt:lpstr>De CellBounds</vt:lpstr>
      <vt:lpstr>Declareren van de CellBounds</vt:lpstr>
      <vt:lpstr>Itereren door de tileMap</vt:lpstr>
      <vt:lpstr>Opdracht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10</cp:revision>
  <dcterms:created xsi:type="dcterms:W3CDTF">2026-03-21T13:39:02Z</dcterms:created>
  <dcterms:modified xsi:type="dcterms:W3CDTF">2026-05-26T09:30:52Z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