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4" r:id="rId4"/>
    <p:sldId id="257" r:id="rId5"/>
    <p:sldId id="258" r:id="rId6"/>
    <p:sldId id="259" r:id="rId7"/>
    <p:sldId id="260" r:id="rId8"/>
    <p:sldId id="261" r:id="rId9"/>
    <p:sldId id="262" r:id="rId10"/>
    <p:sldId id="265" r:id="rId11"/>
    <p:sldId id="266" r:id="rId12"/>
    <p:sldId id="267" r:id="rId13"/>
    <p:sldId id="268" r:id="rId14"/>
    <p:sldId id="271" r:id="rId15"/>
    <p:sldId id="272" r:id="rId16"/>
    <p:sldId id="270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EAA3D6-0A94-6458-F39D-47309EEFEC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B5AF3633-2A87-B9BA-5FB8-F4C79CCE5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BB35D16-7A9B-EBB6-C1A7-A6C4F7F3E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0A4BB66-CDFE-BAA9-38C2-BDBEC1E7F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0339371-F432-DAF9-B17B-9CDE8A009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180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9C0587-C8B8-EA03-BA76-60E5CC3D3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7056119-6993-81A3-ED85-8CADAF697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F340A29-0612-7B7B-C2DA-F498EB9D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AC1460D-B480-E749-350B-CD1E8CF63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F434B48-4018-916A-03DA-09B15FE94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779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351BD4-B611-E3A9-A6B2-2B9DF89DA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F36BD17-C658-519E-D01C-B1B6C6DA6A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7ED4685-6FE0-D66E-C14A-6257A33DB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68CDBAE-86CE-42AB-731A-1CC1D1CE6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6DF4F2E-8523-4C6D-5E58-F78861591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23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24DAD4-966A-8893-15C5-4716518C2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043650-B950-573A-2CAE-E000915219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ED37FD6-6099-246C-8CDA-E93BA7A004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0EEAD9F-0708-A61A-7ADF-A127B99D5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0EB55CD-EFC1-2444-139D-85EA55A63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EE627B6-C81E-A0FC-850D-79FC33C4F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415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542223-FECF-D7D3-5F2A-A3CFE9F5A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C794AE0-85F5-5957-3DEE-162B4A5864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000029F-BC31-8E09-0F84-57E8BFFCEE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692E607E-25A4-4599-2425-4CFCBC770A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C172FAB2-0C50-49A2-F7E6-9ED689C26F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9C72640F-2920-8AC7-39F5-DDB63ABD0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AF8C99F4-FBE1-649A-2EDB-197AA23C6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F3685B43-827F-F041-59E7-7C45270B9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10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762407-A189-FE1F-07FE-CDF02DF6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44E1DE9-7BB3-AE45-79BC-6EF69CD5A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DFE5BB0-B7EE-23B9-F45F-3E0F681EA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89C6EDC-4DB4-A548-547B-FE5A9ADA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948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A45B87D9-B1C3-69ED-EB4B-99BEDB2F5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A8F03739-7A97-651F-C218-5AD08D85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E56803D-7CFD-DC65-5002-7A7443789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583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AB6F8E-267B-3A0F-C1DC-8248957CA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7E2E7F-46D6-8CAD-8CB2-8787C3CFF7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37E9C59-C4F2-2404-589B-1038D3D84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40DA53E-6543-F3D3-A190-EAD26D58D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54122E7-942B-A5A4-4F58-63F8B80A9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F8DFBD7-4FDA-724E-8367-43996B77E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854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E539E5-C285-F049-2A74-6B9AD6267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BB23BD59-DCA4-1601-12C4-5379F4B5AC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58F57F00-2C81-2174-A839-AC7FA19507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51DFEBC-42CE-0A26-E320-E2C1E86DC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21AD3CA-EEFF-0C67-5293-91AE040CC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4968A40-ADC9-DBC8-E2F2-2DB8F81F8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0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628C7D-39C3-8808-FBB7-69BEED415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5D992BC-F16E-43C3-4060-78185C8CF6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A3B46CF-F5E3-5257-64EE-4D4C7A9E1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B407C5E-E481-F04C-AED7-E9E3ECDDC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0131757-E0C5-4AE6-DE8D-E942210A1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669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C9609706-63A3-4499-CF16-CE51F3A5DA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7110F83-67EF-5867-6FC7-211818CAED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13A2D93-81F9-CB5B-A6D7-041CC288E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EA87B18-6979-423B-EC0B-4AF72B641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0C6E6F4-B534-08BC-1FC3-09B5C2C4B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71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8BF6C468-DE30-4E93-6FEC-806AE362A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4ECA150-D6AE-B4D1-CDB5-2347730504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7E575C7-6035-4B59-7FB1-1A8208A595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D5D3C-CE8E-4910-A2D9-6C6C2E65DB9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0746EDB-813C-4978-0904-199E2BF2D0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2E2F2DC-5C8B-B129-B560-653BB91FB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E45DAA-BE15-4333-AB08-D0FA5977893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391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g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gif"/><Relationship Id="rId5" Type="http://schemas.openxmlformats.org/officeDocument/2006/relationships/image" Target="../media/image6.gif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gi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020C01-12AF-3171-D96F-758D7FE07F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Linaire</a:t>
            </a:r>
            <a:r>
              <a:rPr lang="nl-NL" dirty="0"/>
              <a:t> algebra</a:t>
            </a:r>
            <a:endParaRPr lang="en-US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3D69B91-590A-E2F9-E997-E1DA05BF1E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Overzicht gd-m5-wis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488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071FE9-4EBA-5971-1095-732DC00C6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1. </a:t>
            </a:r>
            <a:r>
              <a:rPr lang="nl-NL" dirty="0" err="1"/>
              <a:t>Draggable</a:t>
            </a:r>
            <a:r>
              <a:rPr lang="nl-NL" dirty="0"/>
              <a:t> point en de </a:t>
            </a:r>
            <a:r>
              <a:rPr lang="nl-NL" dirty="0" err="1"/>
              <a:t>Triangle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B669356-9C6F-82F2-965F-6D29020F5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In de wiskunde wordt veel gewerkt met een punt op een willekeurige plaats in de 2D ruimte.</a:t>
            </a:r>
          </a:p>
          <a:p>
            <a:pPr lvl="1"/>
            <a:r>
              <a:rPr lang="nl-NL" dirty="0"/>
              <a:t>Werkt met de Input Manager</a:t>
            </a:r>
          </a:p>
          <a:p>
            <a:pPr lvl="1"/>
            <a:r>
              <a:rPr lang="nl-NL" dirty="0"/>
              <a:t>Twee actions: </a:t>
            </a:r>
            <a:r>
              <a:rPr lang="nl-NL" dirty="0" err="1"/>
              <a:t>Position</a:t>
            </a:r>
            <a:r>
              <a:rPr lang="nl-NL" dirty="0"/>
              <a:t> (Vector2) en Press (Button)</a:t>
            </a:r>
          </a:p>
          <a:p>
            <a:r>
              <a:rPr lang="nl-NL" dirty="0"/>
              <a:t>Drie </a:t>
            </a:r>
            <a:r>
              <a:rPr lang="nl-NL" dirty="0" err="1"/>
              <a:t>DraggablePoints</a:t>
            </a:r>
            <a:r>
              <a:rPr lang="nl-NL" dirty="0"/>
              <a:t> die zijn verbonden door een lijn vormen een driehoek (</a:t>
            </a:r>
            <a:r>
              <a:rPr lang="nl-NL" dirty="0" err="1"/>
              <a:t>triangle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501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D1E7E9-B4FC-992D-93F1-BDC8B8971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Toepassing </a:t>
            </a:r>
            <a:r>
              <a:rPr lang="nl-NL" dirty="0" err="1"/>
              <a:t>DraggablePoint</a:t>
            </a:r>
            <a:r>
              <a:rPr lang="nl-NL" dirty="0"/>
              <a:t> en </a:t>
            </a:r>
            <a:r>
              <a:rPr lang="nl-NL" dirty="0" err="1"/>
              <a:t>Triangle</a:t>
            </a:r>
            <a:endParaRPr lang="en-US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42FD5FE3-1159-A12D-87E5-C92546622C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894" y="2185706"/>
            <a:ext cx="3781732" cy="305616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9CC81F1E-7C7B-9255-D528-83C5DABEBA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9702" y="2283034"/>
            <a:ext cx="4068404" cy="2958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534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9E4BD0-4EB7-5F3C-542B-7BE2EAA4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2. Basis vectoroperaties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344777-D329-8987-9423-49E95442F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In de basis zijn er 3 vectoroperaties</a:t>
            </a:r>
          </a:p>
          <a:p>
            <a:pPr lvl="1"/>
            <a:r>
              <a:rPr lang="nl-NL" dirty="0"/>
              <a:t>Twee vectoren optellen</a:t>
            </a:r>
          </a:p>
          <a:p>
            <a:pPr lvl="1"/>
            <a:r>
              <a:rPr lang="nl-NL" dirty="0"/>
              <a:t>Twee vectoren aftrekken</a:t>
            </a:r>
          </a:p>
          <a:p>
            <a:pPr lvl="1"/>
            <a:r>
              <a:rPr lang="nl-NL" dirty="0"/>
              <a:t>Een vector vermenigvuldigen met een scalair</a:t>
            </a:r>
          </a:p>
          <a:p>
            <a:pPr lvl="1"/>
            <a:endParaRPr lang="nl-NL" dirty="0"/>
          </a:p>
          <a:p>
            <a:pPr lvl="1"/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6AB8E3A1-6946-0EEA-F4F4-CD84555D7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732" y="2283569"/>
            <a:ext cx="586791" cy="327688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E8FA5611-742D-23E3-A5BF-60B9523D0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8215" y="2725874"/>
            <a:ext cx="556308" cy="281964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004C634A-D715-71F2-373C-02F67C69D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4100" y="3133081"/>
            <a:ext cx="457240" cy="205758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291B299A-C4F4-DE9A-CDFE-B8DDE84246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1341" y="4001292"/>
            <a:ext cx="2597002" cy="1806097"/>
          </a:xfrm>
          <a:prstGeom prst="rect">
            <a:avLst/>
          </a:prstGeom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6DF106CF-6F4D-90F3-B587-47BEA72097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53" y="4001293"/>
            <a:ext cx="3612194" cy="1806097"/>
          </a:xfrm>
          <a:prstGeom prst="rect">
            <a:avLst/>
          </a:prstGeom>
        </p:spPr>
      </p:pic>
      <p:pic>
        <p:nvPicPr>
          <p:cNvPr id="19" name="Afbeelding 18">
            <a:extLst>
              <a:ext uri="{FF2B5EF4-FFF2-40B4-BE49-F238E27FC236}">
                <a16:creationId xmlns:a16="http://schemas.microsoft.com/office/drawing/2014/main" id="{4CB092A8-A98E-5D4D-6D9C-D68CA62F24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928" y="3986600"/>
            <a:ext cx="2076143" cy="1820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29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DB2D1E-C83A-426B-2132-D78A15F7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Toepassing basis vectoroperaties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DD89AF0-689C-3A12-7EFF-CEB0E1466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14220"/>
          </a:xfrm>
        </p:spPr>
        <p:txBody>
          <a:bodyPr/>
          <a:lstStyle/>
          <a:p>
            <a:r>
              <a:rPr lang="nl-NL" dirty="0"/>
              <a:t>Maak een verplaatsbare willekeurige driehoek ∆ABC en bepaal m.b.v. vectoren de positie van de punten halverwege de zijden</a:t>
            </a:r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6DC29A9E-3B4C-06E4-7BB2-2A77856EF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003" y="2939845"/>
            <a:ext cx="3467100" cy="2914650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5AE76CFD-B0C4-1689-7BDE-DCC853A317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007" y="3918156"/>
            <a:ext cx="1966130" cy="426757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AD1891E4-50C0-AE6B-1669-AF0DF47F2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007" y="4592750"/>
            <a:ext cx="2171888" cy="464860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45301B76-D9FA-9BF1-045D-B141B8DFE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7007" y="5057610"/>
            <a:ext cx="1996613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75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6BE9A-A8EA-13E0-4BAA-9F9EC49EA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3. Magnitude en normaliseren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9EE9D9E-FE1E-980C-B736-ADE02963C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Een vector heeft een grootte en een richting</a:t>
            </a:r>
          </a:p>
          <a:p>
            <a:pPr lvl="1"/>
            <a:r>
              <a:rPr lang="nl-NL" dirty="0"/>
              <a:t>De grootte van de vector heet de magnitude</a:t>
            </a:r>
          </a:p>
          <a:p>
            <a:pPr lvl="1"/>
            <a:r>
              <a:rPr lang="nl-NL" dirty="0"/>
              <a:t>Door de vector scalair te vermenigvuldigen met 1/magnitude krijg je een vector met lengte 1. Dit is een genormaliseerde vector en wordt vaak aangegeven met een ^(hat)</a:t>
            </a:r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F1A2E69A-B56C-FB10-33B3-55E34C3E7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186" y="4207217"/>
            <a:ext cx="1920413" cy="1106462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478F3469-197A-4020-66B4-F06033CE0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824" y="4207217"/>
            <a:ext cx="2695983" cy="107839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09EA659A-017C-2333-CF9F-EC45F23E78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90" y="4207217"/>
            <a:ext cx="1882126" cy="1106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124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F97EB8-6124-8560-C105-4C7B5B9F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Toepassing magnitude en normaliseren</a:t>
            </a:r>
            <a:endParaRPr lang="en-US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53C49CF4-2A95-E9ED-0AB1-A5BFE84B83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496" y="2692476"/>
            <a:ext cx="4720579" cy="324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961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2CBF6B-F9C5-8084-7A7B-39E73EB2F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4. De geparametriseerde lijn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B9002C-E237-6CF0-EFFC-F40C466BF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Vectoren worden onder andere gebruikt om een lijn te definiëren. Omdat er veel manieren zijn om lijnen te definiëren, noemt men dit </a:t>
            </a:r>
            <a:r>
              <a:rPr lang="nl-NL" dirty="0" err="1"/>
              <a:t>dit</a:t>
            </a:r>
            <a:r>
              <a:rPr lang="nl-NL" dirty="0"/>
              <a:t> geparametriseerde lijn of </a:t>
            </a:r>
            <a:r>
              <a:rPr lang="nl-NL" dirty="0" err="1"/>
              <a:t>parametric</a:t>
            </a:r>
            <a:r>
              <a:rPr lang="nl-NL" dirty="0"/>
              <a:t> line.</a:t>
            </a:r>
          </a:p>
          <a:p>
            <a:r>
              <a:rPr lang="nl-NL" dirty="0"/>
              <a:t>Een geparametriseerde lijn heeft 2 parameters (vast gekozen vectoren) en 1 variabele</a:t>
            </a:r>
          </a:p>
          <a:p>
            <a:pPr lvl="1"/>
            <a:r>
              <a:rPr lang="nl-NL" dirty="0"/>
              <a:t>Steunvector </a:t>
            </a:r>
            <a:r>
              <a:rPr lang="nl-NL" b="1" dirty="0"/>
              <a:t>s</a:t>
            </a:r>
            <a:r>
              <a:rPr lang="nl-NL" dirty="0"/>
              <a:t> (supportvector) - vector</a:t>
            </a:r>
          </a:p>
          <a:p>
            <a:pPr lvl="1"/>
            <a:r>
              <a:rPr lang="nl-NL" dirty="0"/>
              <a:t>Richtingsvector </a:t>
            </a:r>
            <a:r>
              <a:rPr lang="nl-NL" b="1" dirty="0"/>
              <a:t>d</a:t>
            </a:r>
            <a:r>
              <a:rPr lang="nl-NL" dirty="0"/>
              <a:t> (</a:t>
            </a:r>
            <a:r>
              <a:rPr lang="nl-NL" dirty="0" err="1"/>
              <a:t>directionvector</a:t>
            </a:r>
            <a:r>
              <a:rPr lang="nl-NL" dirty="0"/>
              <a:t>) – vector</a:t>
            </a:r>
          </a:p>
          <a:p>
            <a:pPr lvl="1"/>
            <a:r>
              <a:rPr lang="nl-NL" dirty="0"/>
              <a:t>variabele </a:t>
            </a:r>
            <a:r>
              <a:rPr lang="nl-NL" b="1" dirty="0"/>
              <a:t>t</a:t>
            </a:r>
            <a:r>
              <a:rPr lang="nl-NL" dirty="0"/>
              <a:t> - getal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6559E71A-A7E6-DA47-5623-1E3021CCD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347" y="5152103"/>
            <a:ext cx="3513194" cy="943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556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D0B21E-E519-C9B4-BC60-D86D4F27B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Toepassing geparametriseerde lijn</a:t>
            </a:r>
            <a:endParaRPr lang="en-US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1654B8B1-4A1C-6B63-B4B5-283B3D3144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625" y="1877219"/>
            <a:ext cx="7524750" cy="424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893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C19C4D-BF45-86C0-4907-CEE712736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5. De transformatie matrix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9C40D60-0E04-6E33-C2A7-6A37F3530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Om een vector te veranderen wordt vaak een Matrix gebruikt. </a:t>
            </a:r>
          </a:p>
          <a:p>
            <a:r>
              <a:rPr lang="nl-NL" dirty="0"/>
              <a:t>Als introductie gebruiken wij een 2x2 Matrix </a:t>
            </a:r>
            <a:br>
              <a:rPr lang="nl-NL" dirty="0"/>
            </a:br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414E56BC-CF51-FD8E-C999-4A6116D26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644" y="2765068"/>
            <a:ext cx="1985048" cy="1510744"/>
          </a:xfrm>
          <a:prstGeom prst="rect">
            <a:avLst/>
          </a:prstGeom>
        </p:spPr>
      </p:pic>
      <p:sp>
        <p:nvSpPr>
          <p:cNvPr id="6" name="Tijdelijke aanduiding voor inhoud 2">
            <a:extLst>
              <a:ext uri="{FF2B5EF4-FFF2-40B4-BE49-F238E27FC236}">
                <a16:creationId xmlns:a16="http://schemas.microsoft.com/office/drawing/2014/main" id="{C44C7E4A-05F7-E31D-30A6-C60AA94207F1}"/>
              </a:ext>
            </a:extLst>
          </p:cNvPr>
          <p:cNvSpPr txBox="1">
            <a:spLocks/>
          </p:cNvSpPr>
          <p:nvPr/>
        </p:nvSpPr>
        <p:spPr>
          <a:xfrm>
            <a:off x="838200" y="4410749"/>
            <a:ext cx="10515600" cy="6695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Als deze Matrix op een vector werkt, gaat dat:</a:t>
            </a:r>
            <a:endParaRPr lang="en-US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603D8784-A33E-1D7D-7DED-0B2C4EF0D2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157" y="5215255"/>
            <a:ext cx="5498368" cy="1459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9929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0E8248-2AA2-9BE5-4368-35DF7093B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Voorbeeld 2x2 Matrix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B3B77E2-DD5F-DF65-D0A7-16DAB35B6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10515600" cy="1181735"/>
          </a:xfrm>
        </p:spPr>
        <p:txBody>
          <a:bodyPr/>
          <a:lstStyle/>
          <a:p>
            <a:r>
              <a:rPr lang="nl-NL" dirty="0"/>
              <a:t>Bij een 2x2 Matrix</a:t>
            </a:r>
          </a:p>
          <a:p>
            <a:r>
              <a:rPr lang="nl-NL" dirty="0"/>
              <a:t>Voorbeeld: laat de </a:t>
            </a:r>
            <a:r>
              <a:rPr lang="nl-NL" dirty="0" err="1"/>
              <a:t>tranformatiematrix</a:t>
            </a:r>
            <a:r>
              <a:rPr lang="nl-NL" dirty="0"/>
              <a:t>                      werken op vector </a:t>
            </a:r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A98B7271-5F52-81A8-C5EE-011070041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510" y="3218386"/>
            <a:ext cx="4003040" cy="1654241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0385647B-C3D6-19A6-753B-888FFA654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935" y="3249072"/>
            <a:ext cx="1527129" cy="1497534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C1232325-F2B1-0FB6-D8EB-D6B5DF55A5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350" y="5304684"/>
            <a:ext cx="6729398" cy="1276505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0CC9251D-6B7A-E045-700C-BD390CDF67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6555" y="2084005"/>
            <a:ext cx="1355125" cy="1058288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3673C8DF-8E17-4A99-7A36-8D5C8514B1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6960" y="1899851"/>
            <a:ext cx="651524" cy="124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80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9999B8-0825-34FC-B003-689223A3E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Toepassing transformatie matrix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F4139E2-1E68-F1AC-B37F-5D0B71502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740" y="1853887"/>
            <a:ext cx="9870440" cy="978535"/>
          </a:xfrm>
        </p:spPr>
        <p:txBody>
          <a:bodyPr/>
          <a:lstStyle/>
          <a:p>
            <a:r>
              <a:rPr lang="nl-NL" dirty="0"/>
              <a:t>Laat een bal met constante snelheid bij de grenzen van het speelveld reflecteren in de x-as en in de y-as</a:t>
            </a:r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59551D89-4CB5-6384-306E-40971AD8C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239" y="2646642"/>
            <a:ext cx="3246629" cy="1224318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9FF55551-AFDD-7F0E-FFBD-41428F325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180" y="2646642"/>
            <a:ext cx="3692878" cy="113798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5E51D149-15E4-837B-4C82-14E9603259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0620" y="3986859"/>
            <a:ext cx="4389120" cy="2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472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516D14-E970-BF2D-4E4C-7BDFCA687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6 De normaalvector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4607E1-F132-615A-9992-E4DC07B00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48517"/>
          </a:xfrm>
        </p:spPr>
        <p:txBody>
          <a:bodyPr>
            <a:normAutofit fontScale="92500" lnSpcReduction="20000"/>
          </a:bodyPr>
          <a:lstStyle/>
          <a:p>
            <a:r>
              <a:rPr lang="nl-NL" dirty="0"/>
              <a:t>De normaalvector is een genormaliseerde vector die loodrecht op een lijn of een vlak staat</a:t>
            </a:r>
          </a:p>
          <a:p>
            <a:r>
              <a:rPr lang="nl-NL" dirty="0"/>
              <a:t>In het geval van 2D gaan wij eerst werken met de normaalvector op een lijn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2293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13988-E96A-8ACF-86FB-B6CB3A028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AADBD1-4085-5D5B-7BBF-F391F7F90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 lijn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858A600-8642-A86F-C2D6-BDF845616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48517"/>
          </a:xfrm>
        </p:spPr>
        <p:txBody>
          <a:bodyPr>
            <a:normAutofit/>
          </a:bodyPr>
          <a:lstStyle/>
          <a:p>
            <a:r>
              <a:rPr lang="nl-NL" dirty="0"/>
              <a:t>De (geparametriseerde) lijn zetten wij op met een supportvector en een </a:t>
            </a:r>
            <a:r>
              <a:rPr lang="nl-NL" dirty="0" err="1"/>
              <a:t>directionvector</a:t>
            </a:r>
            <a:r>
              <a:rPr lang="nl-NL" dirty="0"/>
              <a:t> en variabele t volgens de formule:</a:t>
            </a:r>
          </a:p>
          <a:p>
            <a:endParaRPr lang="en-US" dirty="0"/>
          </a:p>
        </p:txBody>
      </p:sp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E98E4FB5-3F22-60B6-943D-7763CFF50B55}"/>
              </a:ext>
            </a:extLst>
          </p:cNvPr>
          <p:cNvCxnSpPr>
            <a:cxnSpLocks/>
          </p:cNvCxnSpPr>
          <p:nvPr/>
        </p:nvCxnSpPr>
        <p:spPr>
          <a:xfrm flipH="1" flipV="1">
            <a:off x="4829775" y="4098300"/>
            <a:ext cx="1293270" cy="2382028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Groep 21">
            <a:extLst>
              <a:ext uri="{FF2B5EF4-FFF2-40B4-BE49-F238E27FC236}">
                <a16:creationId xmlns:a16="http://schemas.microsoft.com/office/drawing/2014/main" id="{982D2541-D010-C332-CFB4-BB9106576170}"/>
              </a:ext>
            </a:extLst>
          </p:cNvPr>
          <p:cNvGrpSpPr/>
          <p:nvPr/>
        </p:nvGrpSpPr>
        <p:grpSpPr>
          <a:xfrm>
            <a:off x="1580046" y="3473952"/>
            <a:ext cx="9271820" cy="1769806"/>
            <a:chOff x="383458" y="2782530"/>
            <a:chExt cx="9271820" cy="1769806"/>
          </a:xfrm>
        </p:grpSpPr>
        <p:cxnSp>
          <p:nvCxnSpPr>
            <p:cNvPr id="14" name="Rechte verbindingslijn met pijl 13">
              <a:extLst>
                <a:ext uri="{FF2B5EF4-FFF2-40B4-BE49-F238E27FC236}">
                  <a16:creationId xmlns:a16="http://schemas.microsoft.com/office/drawing/2014/main" id="{4CC6530B-E875-B422-BCDE-9AC8CF17B99B}"/>
                </a:ext>
              </a:extLst>
            </p:cNvPr>
            <p:cNvCxnSpPr>
              <a:cxnSpLocks/>
            </p:cNvCxnSpPr>
            <p:nvPr/>
          </p:nvCxnSpPr>
          <p:spPr>
            <a:xfrm>
              <a:off x="3606144" y="3406878"/>
              <a:ext cx="965856" cy="176981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Rechte verbindingslijn 18">
              <a:extLst>
                <a:ext uri="{FF2B5EF4-FFF2-40B4-BE49-F238E27FC236}">
                  <a16:creationId xmlns:a16="http://schemas.microsoft.com/office/drawing/2014/main" id="{4EB54F43-AD61-BB0D-7C3E-254C71C77D75}"/>
                </a:ext>
              </a:extLst>
            </p:cNvPr>
            <p:cNvCxnSpPr/>
            <p:nvPr/>
          </p:nvCxnSpPr>
          <p:spPr>
            <a:xfrm>
              <a:off x="383458" y="2782530"/>
              <a:ext cx="9271820" cy="17698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Afbeelding 23">
            <a:extLst>
              <a:ext uri="{FF2B5EF4-FFF2-40B4-BE49-F238E27FC236}">
                <a16:creationId xmlns:a16="http://schemas.microsoft.com/office/drawing/2014/main" id="{7FA001D6-C102-CA94-7EC4-3A7A7AF8B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195" y="2821222"/>
            <a:ext cx="2317613" cy="513633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:a16="http://schemas.microsoft.com/office/drawing/2014/main" id="{1BE7DEBF-C942-EEE9-AF0D-606D13A26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244" y="5365184"/>
            <a:ext cx="336747" cy="468518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id="{3B312D91-0BD5-9968-4041-901231C5EB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5571" y="3232584"/>
            <a:ext cx="390839" cy="82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692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Afbeelding 40">
            <a:extLst>
              <a:ext uri="{FF2B5EF4-FFF2-40B4-BE49-F238E27FC236}">
                <a16:creationId xmlns:a16="http://schemas.microsoft.com/office/drawing/2014/main" id="{FBEB9B5D-B59A-3AB2-1ADF-740808414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2431" y="5388006"/>
            <a:ext cx="463372" cy="499954"/>
          </a:xfrm>
          <a:prstGeom prst="rect">
            <a:avLst/>
          </a:prstGeom>
        </p:spPr>
      </p:pic>
      <p:pic>
        <p:nvPicPr>
          <p:cNvPr id="24" name="Tijdelijke aanduiding voor inhoud 22">
            <a:extLst>
              <a:ext uri="{FF2B5EF4-FFF2-40B4-BE49-F238E27FC236}">
                <a16:creationId xmlns:a16="http://schemas.microsoft.com/office/drawing/2014/main" id="{1109BC6A-C740-BC9D-881E-2A235360A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111" y="3025877"/>
            <a:ext cx="477117" cy="715674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id="{CEAE555F-05B4-FDC3-FDAD-951F1FDCE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5163" y="3741551"/>
            <a:ext cx="578916" cy="6246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1BE52AF-FECD-E52A-070B-7FD22E9B0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Rotatiematrix rotatie 90° tegen de klok in</a:t>
            </a:r>
            <a:endParaRPr lang="en-US" dirty="0"/>
          </a:p>
        </p:txBody>
      </p:sp>
      <p:pic>
        <p:nvPicPr>
          <p:cNvPr id="23" name="Tijdelijke aanduiding voor inhoud 22">
            <a:extLst>
              <a:ext uri="{FF2B5EF4-FFF2-40B4-BE49-F238E27FC236}">
                <a16:creationId xmlns:a16="http://schemas.microsoft.com/office/drawing/2014/main" id="{5C2F425A-2300-118A-AECF-6F360E4DB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22206" y="3873203"/>
            <a:ext cx="477117" cy="715674"/>
          </a:xfrm>
          <a:prstGeom prst="rect">
            <a:avLst/>
          </a:prstGeom>
        </p:spPr>
      </p:pic>
      <p:cxnSp>
        <p:nvCxnSpPr>
          <p:cNvPr id="4" name="Rechte verbindingslijn met pijl 3">
            <a:extLst>
              <a:ext uri="{FF2B5EF4-FFF2-40B4-BE49-F238E27FC236}">
                <a16:creationId xmlns:a16="http://schemas.microsoft.com/office/drawing/2014/main" id="{6DC64676-2DEC-9E0E-31E7-4C46E2A37C95}"/>
              </a:ext>
            </a:extLst>
          </p:cNvPr>
          <p:cNvCxnSpPr>
            <a:cxnSpLocks/>
          </p:cNvCxnSpPr>
          <p:nvPr/>
        </p:nvCxnSpPr>
        <p:spPr>
          <a:xfrm flipV="1">
            <a:off x="2304453" y="3025877"/>
            <a:ext cx="0" cy="84776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Rechte verbindingslijn met pijl 11">
            <a:extLst>
              <a:ext uri="{FF2B5EF4-FFF2-40B4-BE49-F238E27FC236}">
                <a16:creationId xmlns:a16="http://schemas.microsoft.com/office/drawing/2014/main" id="{D01096C4-6FFE-2B30-A504-53AA63EFFE78}"/>
              </a:ext>
            </a:extLst>
          </p:cNvPr>
          <p:cNvCxnSpPr>
            <a:cxnSpLocks/>
          </p:cNvCxnSpPr>
          <p:nvPr/>
        </p:nvCxnSpPr>
        <p:spPr>
          <a:xfrm flipV="1">
            <a:off x="2304453" y="3848459"/>
            <a:ext cx="777960" cy="2474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Rechte verbindingslijn met pijl 13">
            <a:extLst>
              <a:ext uri="{FF2B5EF4-FFF2-40B4-BE49-F238E27FC236}">
                <a16:creationId xmlns:a16="http://schemas.microsoft.com/office/drawing/2014/main" id="{7856843F-69BE-3FC7-27CD-B35AE18045AF}"/>
              </a:ext>
            </a:extLst>
          </p:cNvPr>
          <p:cNvCxnSpPr>
            <a:cxnSpLocks/>
          </p:cNvCxnSpPr>
          <p:nvPr/>
        </p:nvCxnSpPr>
        <p:spPr>
          <a:xfrm flipH="1">
            <a:off x="4272152" y="3840508"/>
            <a:ext cx="691926" cy="2474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0E769985-EA16-CC42-4ED9-E3AEFC125E4E}"/>
              </a:ext>
            </a:extLst>
          </p:cNvPr>
          <p:cNvCxnSpPr>
            <a:cxnSpLocks/>
          </p:cNvCxnSpPr>
          <p:nvPr/>
        </p:nvCxnSpPr>
        <p:spPr>
          <a:xfrm flipV="1">
            <a:off x="4964078" y="3017926"/>
            <a:ext cx="0" cy="822147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Afbeelding 25">
            <a:extLst>
              <a:ext uri="{FF2B5EF4-FFF2-40B4-BE49-F238E27FC236}">
                <a16:creationId xmlns:a16="http://schemas.microsoft.com/office/drawing/2014/main" id="{6144EF17-3E20-6D41-C88F-4E2AFAAD0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785" y="3116931"/>
            <a:ext cx="578916" cy="624620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:a16="http://schemas.microsoft.com/office/drawing/2014/main" id="{35D92C69-00AF-15A3-4009-AEDD0B0E12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6828" y="2918604"/>
            <a:ext cx="3840419" cy="1645893"/>
          </a:xfrm>
          <a:prstGeom prst="rect">
            <a:avLst/>
          </a:prstGeom>
        </p:spPr>
      </p:pic>
      <p:sp>
        <p:nvSpPr>
          <p:cNvPr id="31" name="Ovaal 30">
            <a:extLst>
              <a:ext uri="{FF2B5EF4-FFF2-40B4-BE49-F238E27FC236}">
                <a16:creationId xmlns:a16="http://schemas.microsoft.com/office/drawing/2014/main" id="{7305CB02-914F-E017-86A0-57CFA6C924F5}"/>
              </a:ext>
            </a:extLst>
          </p:cNvPr>
          <p:cNvSpPr/>
          <p:nvPr/>
        </p:nvSpPr>
        <p:spPr>
          <a:xfrm>
            <a:off x="7668221" y="2831278"/>
            <a:ext cx="707881" cy="18205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al 32">
            <a:extLst>
              <a:ext uri="{FF2B5EF4-FFF2-40B4-BE49-F238E27FC236}">
                <a16:creationId xmlns:a16="http://schemas.microsoft.com/office/drawing/2014/main" id="{0D9E3F67-DE8E-8305-C826-2238DC8E0604}"/>
              </a:ext>
            </a:extLst>
          </p:cNvPr>
          <p:cNvSpPr/>
          <p:nvPr/>
        </p:nvSpPr>
        <p:spPr>
          <a:xfrm>
            <a:off x="8524568" y="2831278"/>
            <a:ext cx="824654" cy="18205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9EE02919-24BF-E996-A188-F07FB78EC2C4}"/>
              </a:ext>
            </a:extLst>
          </p:cNvPr>
          <p:cNvSpPr txBox="1"/>
          <p:nvPr/>
        </p:nvSpPr>
        <p:spPr>
          <a:xfrm>
            <a:off x="6960277" y="5194077"/>
            <a:ext cx="1061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Plaats van</a:t>
            </a:r>
            <a:endParaRPr lang="en-US" dirty="0"/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C6AFB99A-375D-C50B-EB2E-B04B249286B1}"/>
              </a:ext>
            </a:extLst>
          </p:cNvPr>
          <p:cNvSpPr txBox="1"/>
          <p:nvPr/>
        </p:nvSpPr>
        <p:spPr>
          <a:xfrm>
            <a:off x="8785201" y="5184894"/>
            <a:ext cx="9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Plaats van</a:t>
            </a:r>
            <a:endParaRPr lang="en-US" dirty="0"/>
          </a:p>
        </p:txBody>
      </p:sp>
      <p:pic>
        <p:nvPicPr>
          <p:cNvPr id="39" name="Tijdelijke aanduiding voor inhoud 22">
            <a:extLst>
              <a:ext uri="{FF2B5EF4-FFF2-40B4-BE49-F238E27FC236}">
                <a16:creationId xmlns:a16="http://schemas.microsoft.com/office/drawing/2014/main" id="{3339A377-6B58-2F59-C011-77C5FBB38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320" y="5435558"/>
            <a:ext cx="269901" cy="404850"/>
          </a:xfrm>
          <a:prstGeom prst="rect">
            <a:avLst/>
          </a:prstGeom>
        </p:spPr>
      </p:pic>
      <p:cxnSp>
        <p:nvCxnSpPr>
          <p:cNvPr id="43" name="Rechte verbindingslijn 42">
            <a:extLst>
              <a:ext uri="{FF2B5EF4-FFF2-40B4-BE49-F238E27FC236}">
                <a16:creationId xmlns:a16="http://schemas.microsoft.com/office/drawing/2014/main" id="{7E540EFF-404A-CF8F-FCC3-601B85E500F0}"/>
              </a:ext>
            </a:extLst>
          </p:cNvPr>
          <p:cNvCxnSpPr>
            <a:cxnSpLocks/>
            <a:endCxn id="34" idx="0"/>
          </p:cNvCxnSpPr>
          <p:nvPr/>
        </p:nvCxnSpPr>
        <p:spPr>
          <a:xfrm flipH="1">
            <a:off x="7491219" y="4564497"/>
            <a:ext cx="404084" cy="6295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Rechte verbindingslijn 44">
            <a:extLst>
              <a:ext uri="{FF2B5EF4-FFF2-40B4-BE49-F238E27FC236}">
                <a16:creationId xmlns:a16="http://schemas.microsoft.com/office/drawing/2014/main" id="{91180A34-4A09-D2B3-8995-6C1D59919CE2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9119694" y="4588877"/>
            <a:ext cx="125808" cy="5960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Rechte verbindingslijn 47">
            <a:extLst>
              <a:ext uri="{FF2B5EF4-FFF2-40B4-BE49-F238E27FC236}">
                <a16:creationId xmlns:a16="http://schemas.microsoft.com/office/drawing/2014/main" id="{6C5A16BC-9A20-828A-5266-FB5DEFC77F7F}"/>
              </a:ext>
            </a:extLst>
          </p:cNvPr>
          <p:cNvCxnSpPr>
            <a:cxnSpLocks/>
          </p:cNvCxnSpPr>
          <p:nvPr/>
        </p:nvCxnSpPr>
        <p:spPr>
          <a:xfrm>
            <a:off x="2280093" y="2490843"/>
            <a:ext cx="33463" cy="25014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Rechte verbindingslijn 49">
            <a:extLst>
              <a:ext uri="{FF2B5EF4-FFF2-40B4-BE49-F238E27FC236}">
                <a16:creationId xmlns:a16="http://schemas.microsoft.com/office/drawing/2014/main" id="{D0C80A4D-ED16-AD0E-B15C-4862E03050F0}"/>
              </a:ext>
            </a:extLst>
          </p:cNvPr>
          <p:cNvCxnSpPr>
            <a:cxnSpLocks/>
          </p:cNvCxnSpPr>
          <p:nvPr/>
        </p:nvCxnSpPr>
        <p:spPr>
          <a:xfrm>
            <a:off x="4930615" y="2589366"/>
            <a:ext cx="33463" cy="25014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Rechte verbindingslijn 50">
            <a:extLst>
              <a:ext uri="{FF2B5EF4-FFF2-40B4-BE49-F238E27FC236}">
                <a16:creationId xmlns:a16="http://schemas.microsoft.com/office/drawing/2014/main" id="{423BEDE6-3B10-22B3-1A2D-71FDC4B94E8A}"/>
              </a:ext>
            </a:extLst>
          </p:cNvPr>
          <p:cNvCxnSpPr>
            <a:cxnSpLocks/>
          </p:cNvCxnSpPr>
          <p:nvPr/>
        </p:nvCxnSpPr>
        <p:spPr>
          <a:xfrm>
            <a:off x="1278194" y="3860831"/>
            <a:ext cx="19439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Rechte verbindingslijn 54">
            <a:extLst>
              <a:ext uri="{FF2B5EF4-FFF2-40B4-BE49-F238E27FC236}">
                <a16:creationId xmlns:a16="http://schemas.microsoft.com/office/drawing/2014/main" id="{431DA1E1-A473-7A8C-8B39-CCEBD8022AE2}"/>
              </a:ext>
            </a:extLst>
          </p:cNvPr>
          <p:cNvCxnSpPr>
            <a:cxnSpLocks/>
          </p:cNvCxnSpPr>
          <p:nvPr/>
        </p:nvCxnSpPr>
        <p:spPr>
          <a:xfrm>
            <a:off x="4160915" y="3840073"/>
            <a:ext cx="19439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kstvak 55">
            <a:extLst>
              <a:ext uri="{FF2B5EF4-FFF2-40B4-BE49-F238E27FC236}">
                <a16:creationId xmlns:a16="http://schemas.microsoft.com/office/drawing/2014/main" id="{F51874DA-A3CA-9A37-0911-667C0BC76C76}"/>
              </a:ext>
            </a:extLst>
          </p:cNvPr>
          <p:cNvSpPr txBox="1"/>
          <p:nvPr/>
        </p:nvSpPr>
        <p:spPr>
          <a:xfrm>
            <a:off x="2321428" y="28065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</a:t>
            </a:r>
            <a:endParaRPr lang="en-US" dirty="0"/>
          </a:p>
        </p:txBody>
      </p:sp>
      <p:sp>
        <p:nvSpPr>
          <p:cNvPr id="58" name="Tekstvak 57">
            <a:extLst>
              <a:ext uri="{FF2B5EF4-FFF2-40B4-BE49-F238E27FC236}">
                <a16:creationId xmlns:a16="http://schemas.microsoft.com/office/drawing/2014/main" id="{3BD22642-2BB9-FCBB-251A-8F48CBD769A3}"/>
              </a:ext>
            </a:extLst>
          </p:cNvPr>
          <p:cNvSpPr txBox="1"/>
          <p:nvPr/>
        </p:nvSpPr>
        <p:spPr>
          <a:xfrm>
            <a:off x="2995049" y="350240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</a:t>
            </a:r>
            <a:endParaRPr lang="en-US" dirty="0"/>
          </a:p>
        </p:txBody>
      </p:sp>
      <p:sp>
        <p:nvSpPr>
          <p:cNvPr id="60" name="Tekstvak 59">
            <a:extLst>
              <a:ext uri="{FF2B5EF4-FFF2-40B4-BE49-F238E27FC236}">
                <a16:creationId xmlns:a16="http://schemas.microsoft.com/office/drawing/2014/main" id="{31084DC1-1420-D61B-9F9A-DB881CE9E3F1}"/>
              </a:ext>
            </a:extLst>
          </p:cNvPr>
          <p:cNvSpPr txBox="1"/>
          <p:nvPr/>
        </p:nvSpPr>
        <p:spPr>
          <a:xfrm>
            <a:off x="1185183" y="3958272"/>
            <a:ext cx="369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-1</a:t>
            </a:r>
            <a:endParaRPr lang="en-US" dirty="0"/>
          </a:p>
        </p:txBody>
      </p:sp>
      <p:sp>
        <p:nvSpPr>
          <p:cNvPr id="62" name="Tekstvak 61">
            <a:extLst>
              <a:ext uri="{FF2B5EF4-FFF2-40B4-BE49-F238E27FC236}">
                <a16:creationId xmlns:a16="http://schemas.microsoft.com/office/drawing/2014/main" id="{3B161F7D-461F-611E-C7E5-3ED88198D6DE}"/>
              </a:ext>
            </a:extLst>
          </p:cNvPr>
          <p:cNvSpPr txBox="1"/>
          <p:nvPr/>
        </p:nvSpPr>
        <p:spPr>
          <a:xfrm>
            <a:off x="1952160" y="4682565"/>
            <a:ext cx="369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-1</a:t>
            </a:r>
            <a:endParaRPr lang="en-US" dirty="0"/>
          </a:p>
        </p:txBody>
      </p:sp>
      <p:sp>
        <p:nvSpPr>
          <p:cNvPr id="64" name="Tekstvak 63">
            <a:extLst>
              <a:ext uri="{FF2B5EF4-FFF2-40B4-BE49-F238E27FC236}">
                <a16:creationId xmlns:a16="http://schemas.microsoft.com/office/drawing/2014/main" id="{92E34C3B-3E28-6928-D8D4-7E14288D32C6}"/>
              </a:ext>
            </a:extLst>
          </p:cNvPr>
          <p:cNvSpPr txBox="1"/>
          <p:nvPr/>
        </p:nvSpPr>
        <p:spPr>
          <a:xfrm>
            <a:off x="4965661" y="28556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</a:t>
            </a:r>
            <a:endParaRPr lang="en-US" dirty="0"/>
          </a:p>
        </p:txBody>
      </p:sp>
      <p:sp>
        <p:nvSpPr>
          <p:cNvPr id="66" name="Tekstvak 65">
            <a:extLst>
              <a:ext uri="{FF2B5EF4-FFF2-40B4-BE49-F238E27FC236}">
                <a16:creationId xmlns:a16="http://schemas.microsoft.com/office/drawing/2014/main" id="{11F9DE39-2A17-9F66-4D57-D76FE63AA39A}"/>
              </a:ext>
            </a:extLst>
          </p:cNvPr>
          <p:cNvSpPr txBox="1"/>
          <p:nvPr/>
        </p:nvSpPr>
        <p:spPr>
          <a:xfrm>
            <a:off x="5639282" y="355153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</a:t>
            </a:r>
            <a:endParaRPr lang="en-US" dirty="0"/>
          </a:p>
        </p:txBody>
      </p:sp>
      <p:sp>
        <p:nvSpPr>
          <p:cNvPr id="68" name="Tekstvak 67">
            <a:extLst>
              <a:ext uri="{FF2B5EF4-FFF2-40B4-BE49-F238E27FC236}">
                <a16:creationId xmlns:a16="http://schemas.microsoft.com/office/drawing/2014/main" id="{0A286074-AECB-AB1C-2A35-7D6017467EC4}"/>
              </a:ext>
            </a:extLst>
          </p:cNvPr>
          <p:cNvSpPr txBox="1"/>
          <p:nvPr/>
        </p:nvSpPr>
        <p:spPr>
          <a:xfrm>
            <a:off x="4017438" y="3839639"/>
            <a:ext cx="369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-1</a:t>
            </a:r>
            <a:endParaRPr lang="en-US" dirty="0"/>
          </a:p>
        </p:txBody>
      </p:sp>
      <p:sp>
        <p:nvSpPr>
          <p:cNvPr id="70" name="Tekstvak 69">
            <a:extLst>
              <a:ext uri="{FF2B5EF4-FFF2-40B4-BE49-F238E27FC236}">
                <a16:creationId xmlns:a16="http://schemas.microsoft.com/office/drawing/2014/main" id="{C92BDB20-7DCF-B701-83F3-3CF4C0816B53}"/>
              </a:ext>
            </a:extLst>
          </p:cNvPr>
          <p:cNvSpPr txBox="1"/>
          <p:nvPr/>
        </p:nvSpPr>
        <p:spPr>
          <a:xfrm>
            <a:off x="4594810" y="4651822"/>
            <a:ext cx="369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-1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151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6950A-A8C7-0361-FA90-B5CF8E2BC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9DDA38-F548-F8CD-7A56-ADF9D3273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7 Orient2D en reflectiematrix in lijn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FD97370-9680-8BC9-8C30-9AB4F555C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48517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7F5ABB34-8588-10E3-AA83-26EB6BD7B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971" y="5367846"/>
            <a:ext cx="2972058" cy="769687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4046B8BA-EFA7-CDF0-38DF-551362D3A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339" y="4385279"/>
            <a:ext cx="1653683" cy="708721"/>
          </a:xfrm>
          <a:prstGeom prst="rect">
            <a:avLst/>
          </a:prstGeom>
        </p:spPr>
      </p:pic>
      <p:pic>
        <p:nvPicPr>
          <p:cNvPr id="12" name="Afbeelding 11">
            <a:extLst>
              <a:ext uri="{FF2B5EF4-FFF2-40B4-BE49-F238E27FC236}">
                <a16:creationId xmlns:a16="http://schemas.microsoft.com/office/drawing/2014/main" id="{BB09E670-4914-EB8B-E00A-34C0BF251F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121" y="5563190"/>
            <a:ext cx="25300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01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22D06C-4988-6BF6-0307-084EB803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Voorbeeld</a:t>
            </a:r>
            <a:endParaRPr lang="en-US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B5874B84-6524-4EA4-B68F-F41B8ACD2B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423" y="1825625"/>
            <a:ext cx="782115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288819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5808</TotalTime>
  <Words>402</Words>
  <Application>Microsoft Office PowerPoint</Application>
  <PresentationFormat>Breedbeeld</PresentationFormat>
  <Paragraphs>54</Paragraphs>
  <Slides>17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Kantoorthema</vt:lpstr>
      <vt:lpstr>Linaire algebra</vt:lpstr>
      <vt:lpstr>1. Draggable point en de Triangle</vt:lpstr>
      <vt:lpstr>Toepassing DraggablePoint en Triangle</vt:lpstr>
      <vt:lpstr>2. Basis vectoroperaties</vt:lpstr>
      <vt:lpstr>Toepassing basis vectoroperaties</vt:lpstr>
      <vt:lpstr>3. Magnitude en normaliseren</vt:lpstr>
      <vt:lpstr>Toepassing magnitude en normaliseren</vt:lpstr>
      <vt:lpstr>4. De geparametriseerde lijn</vt:lpstr>
      <vt:lpstr>Toepassing geparametriseerde lijn</vt:lpstr>
      <vt:lpstr>5. De transformatie matrix</vt:lpstr>
      <vt:lpstr>Voorbeeld 2x2 Matrix</vt:lpstr>
      <vt:lpstr>Toepassing transformatie matrix</vt:lpstr>
      <vt:lpstr>6 De normaalvector</vt:lpstr>
      <vt:lpstr>De lijn</vt:lpstr>
      <vt:lpstr>Rotatiematrix rotatie 90° tegen de klok in</vt:lpstr>
      <vt:lpstr>7 Orient2D en reflectiematrix in lijn</vt:lpstr>
      <vt:lpstr>Voorbeeld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Jelle Sjollema</dc:creator>
  <cp:lastModifiedBy>Jelle Sjollema</cp:lastModifiedBy>
  <cp:revision>19</cp:revision>
  <dcterms:created xsi:type="dcterms:W3CDTF">2026-09-26T10:53:44Z</dcterms:created>
  <dcterms:modified xsi:type="dcterms:W3CDTF">2026-10-04T17:28:20Z</dcterms:modified>
</cp:coreProperties>
</file>