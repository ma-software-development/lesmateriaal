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3" r:id="rId3"/>
    <p:sldId id="288" r:id="rId4"/>
    <p:sldId id="289" r:id="rId5"/>
    <p:sldId id="287" r:id="rId6"/>
    <p:sldId id="257" r:id="rId7"/>
    <p:sldId id="258" r:id="rId8"/>
    <p:sldId id="259" r:id="rId9"/>
    <p:sldId id="260" r:id="rId10"/>
    <p:sldId id="261" r:id="rId11"/>
    <p:sldId id="262" r:id="rId12"/>
    <p:sldId id="268" r:id="rId13"/>
    <p:sldId id="272" r:id="rId14"/>
    <p:sldId id="281" r:id="rId15"/>
    <p:sldId id="265" r:id="rId16"/>
    <p:sldId id="266" r:id="rId17"/>
    <p:sldId id="267" r:id="rId18"/>
    <p:sldId id="290" r:id="rId19"/>
    <p:sldId id="292" r:id="rId20"/>
    <p:sldId id="282" r:id="rId21"/>
    <p:sldId id="291" r:id="rId22"/>
    <p:sldId id="274" r:id="rId23"/>
    <p:sldId id="283" r:id="rId24"/>
    <p:sldId id="284" r:id="rId25"/>
    <p:sldId id="285" r:id="rId26"/>
    <p:sldId id="286" r:id="rId27"/>
    <p:sldId id="280" r:id="rId28"/>
    <p:sldId id="269" r:id="rId29"/>
    <p:sldId id="273" r:id="rId30"/>
    <p:sldId id="275" r:id="rId31"/>
    <p:sldId id="277" r:id="rId32"/>
    <p:sldId id="276" r:id="rId33"/>
    <p:sldId id="278" r:id="rId34"/>
    <p:sldId id="270" r:id="rId3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13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FEAA3D6-0A94-6458-F39D-47309EEFEC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B5AF3633-2A87-B9BA-5FB8-F4C79CCE5B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en-US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3BB35D16-7A9B-EBB6-C1A7-A6C4F7F3EE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D5D3C-CE8E-4910-A2D9-6C6C2E65DB97}" type="datetimeFigureOut">
              <a:rPr lang="en-US" smtClean="0"/>
              <a:t>16-Oct-26</a:t>
            </a:fld>
            <a:endParaRPr lang="en-US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A0A4BB66-CDFE-BAA9-38C2-BDBEC1E7F7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60339371-F432-DAF9-B17B-9CDE8A0096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45DAA-BE15-4333-AB08-D0FA59778931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31804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F9C0587-C8B8-EA03-BA76-60E5CC3D3E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77056119-6993-81A3-ED85-8CADAF697C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CF340A29-0612-7B7B-C2DA-F498EB9DC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D5D3C-CE8E-4910-A2D9-6C6C2E65DB97}" type="datetimeFigureOut">
              <a:rPr lang="en-US" smtClean="0"/>
              <a:t>16-Oct-26</a:t>
            </a:fld>
            <a:endParaRPr lang="en-US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0AC1460D-B480-E749-350B-CD1E8CF63E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0F434B48-4018-916A-03DA-09B15FE948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45DAA-BE15-4333-AB08-D0FA59778931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27798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B351BD4-B611-E3A9-A6B2-2B9DF89DA5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7F36BD17-C658-519E-D01C-B1B6C6DA6A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C7ED4685-6FE0-D66E-C14A-6257A33DB5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D5D3C-CE8E-4910-A2D9-6C6C2E65DB97}" type="datetimeFigureOut">
              <a:rPr lang="en-US" smtClean="0"/>
              <a:t>16-Oct-26</a:t>
            </a:fld>
            <a:endParaRPr lang="en-US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868CDBAE-86CE-42AB-731A-1CC1D1CE6F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E6DF4F2E-8523-4C6D-5E58-F78861591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45DAA-BE15-4333-AB08-D0FA59778931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5230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824DAD4-966A-8893-15C5-4716518C22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14043650-B950-573A-2CAE-E0009152196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EED37FD6-6099-246C-8CDA-E93BA7A004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70EEAD9F-0708-A61A-7ADF-A127B99D57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D5D3C-CE8E-4910-A2D9-6C6C2E65DB97}" type="datetimeFigureOut">
              <a:rPr lang="en-US" smtClean="0"/>
              <a:t>16-Oct-26</a:t>
            </a:fld>
            <a:endParaRPr lang="en-US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40EB55CD-EFC1-2444-139D-85EA55A63D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0EE627B6-C81E-A0FC-850D-79FC33C4F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45DAA-BE15-4333-AB08-D0FA59778931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6415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6542223-FECF-D7D3-5F2A-A3CFE9F5AC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8C794AE0-85F5-5957-3DEE-162B4A5864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4000029F-BC31-8E09-0F84-57E8BFFCEE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692E607E-25A4-4599-2425-4CFCBC770A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C172FAB2-0C50-49A2-F7E6-9ED689C26F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7" name="Tijdelijke aanduiding voor datum 6">
            <a:extLst>
              <a:ext uri="{FF2B5EF4-FFF2-40B4-BE49-F238E27FC236}">
                <a16:creationId xmlns:a16="http://schemas.microsoft.com/office/drawing/2014/main" id="{9C72640F-2920-8AC7-39F5-DDB63ABD0F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D5D3C-CE8E-4910-A2D9-6C6C2E65DB97}" type="datetimeFigureOut">
              <a:rPr lang="en-US" smtClean="0"/>
              <a:t>16-Oct-26</a:t>
            </a:fld>
            <a:endParaRPr lang="en-US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AF8C99F4-FBE1-649A-2EDB-197AA23C6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F3685B43-827F-F041-59E7-7C45270B9D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45DAA-BE15-4333-AB08-D0FA59778931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20104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7762407-A189-FE1F-07FE-CDF02DF6F3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744E1DE9-7BB3-AE45-79BC-6EF69CD5A1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D5D3C-CE8E-4910-A2D9-6C6C2E65DB97}" type="datetimeFigureOut">
              <a:rPr lang="en-US" smtClean="0"/>
              <a:t>16-Oct-26</a:t>
            </a:fld>
            <a:endParaRPr lang="en-US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6DFE5BB0-B7EE-23B9-F45F-3E0F681EA8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789C6EDC-4DB4-A548-547B-FE5A9ADA4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45DAA-BE15-4333-AB08-D0FA59778931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09481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A45B87D9-B1C3-69ED-EB4B-99BEDB2F5E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D5D3C-CE8E-4910-A2D9-6C6C2E65DB97}" type="datetimeFigureOut">
              <a:rPr lang="en-US" smtClean="0"/>
              <a:t>16-Oct-26</a:t>
            </a:fld>
            <a:endParaRPr lang="en-US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A8F03739-7A97-651F-C218-5AD08D8532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BE56803D-7CFD-DC65-5002-7A74437892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45DAA-BE15-4333-AB08-D0FA59778931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35832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4AB6F8E-267B-3A0F-C1DC-8248957CAC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517E2E7F-46D6-8CAD-8CB2-8787C3CFF7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D37E9C59-C4F2-2404-589B-1038D3D84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740DA53E-6543-F3D3-A190-EAD26D58D8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D5D3C-CE8E-4910-A2D9-6C6C2E65DB97}" type="datetimeFigureOut">
              <a:rPr lang="en-US" smtClean="0"/>
              <a:t>16-Oct-26</a:t>
            </a:fld>
            <a:endParaRPr lang="en-US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B54122E7-942B-A5A4-4F58-63F8B80A95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0F8DFBD7-4FDA-724E-8367-43996B77E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45DAA-BE15-4333-AB08-D0FA59778931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98546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AE539E5-C285-F049-2A74-6B9AD6267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BB23BD59-DCA4-1601-12C4-5379F4B5AC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58F57F00-2C81-2174-A839-AC7FA19507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751DFEBC-42CE-0A26-E320-E2C1E86DC6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D5D3C-CE8E-4910-A2D9-6C6C2E65DB97}" type="datetimeFigureOut">
              <a:rPr lang="en-US" smtClean="0"/>
              <a:t>16-Oct-26</a:t>
            </a:fld>
            <a:endParaRPr lang="en-US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921AD3CA-EEFF-0C67-5293-91AE040CC6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84968A40-ADC9-DBC8-E2F2-2DB8F81F86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45DAA-BE15-4333-AB08-D0FA59778931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608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B628C7D-39C3-8808-FBB7-69BEED415B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F5D992BC-F16E-43C3-4060-78185C8CF6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0A3B46CF-F5E3-5257-64EE-4D4C7A9E14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D5D3C-CE8E-4910-A2D9-6C6C2E65DB97}" type="datetimeFigureOut">
              <a:rPr lang="en-US" smtClean="0"/>
              <a:t>16-Oct-26</a:t>
            </a:fld>
            <a:endParaRPr lang="en-US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4B407C5E-E481-F04C-AED7-E9E3ECDDC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60131757-E0C5-4AE6-DE8D-E942210A1C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45DAA-BE15-4333-AB08-D0FA59778931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66692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>
            <a:extLst>
              <a:ext uri="{FF2B5EF4-FFF2-40B4-BE49-F238E27FC236}">
                <a16:creationId xmlns:a16="http://schemas.microsoft.com/office/drawing/2014/main" id="{C9609706-63A3-4499-CF16-CE51F3A5DA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F7110F83-67EF-5867-6FC7-211818CAED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313A2D93-81F9-CB5B-A6D7-041CC288E9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D5D3C-CE8E-4910-A2D9-6C6C2E65DB97}" type="datetimeFigureOut">
              <a:rPr lang="en-US" smtClean="0"/>
              <a:t>16-Oct-26</a:t>
            </a:fld>
            <a:endParaRPr lang="en-US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2EA87B18-6979-423B-EC0B-4AF72B641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30C6E6F4-B534-08BC-1FC3-09B5C2C4B3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45DAA-BE15-4333-AB08-D0FA59778931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9710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8BF6C468-DE30-4E93-6FEC-806AE362AD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84ECA150-D6AE-B4D1-CDB5-2347730504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97E575C7-6035-4B59-7FB1-1A8208A595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3D5D3C-CE8E-4910-A2D9-6C6C2E65DB97}" type="datetimeFigureOut">
              <a:rPr lang="en-US" smtClean="0"/>
              <a:t>16-Oct-26</a:t>
            </a:fld>
            <a:endParaRPr lang="en-US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50746EDB-813C-4978-0904-199E2BF2D0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72E2F2DC-5C8B-B129-B560-653BB91FB5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BE45DAA-BE15-4333-AB08-D0FA59778931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53918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gif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gif"/><Relationship Id="rId5" Type="http://schemas.openxmlformats.org/officeDocument/2006/relationships/image" Target="../media/image10.gif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gi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gi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2.gi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gi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gif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gi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gi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gif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gi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4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gif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gif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gif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gif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gif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gif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1020C01-12AF-3171-D96F-758D7FE07F0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l-NL" dirty="0" err="1"/>
              <a:t>Linaire</a:t>
            </a:r>
            <a:r>
              <a:rPr lang="nl-NL" dirty="0"/>
              <a:t> algebra</a:t>
            </a:r>
            <a:endParaRPr lang="en-US" dirty="0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63D69B91-590A-E2F9-E997-E1DA05BF1E1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nl-NL" dirty="0"/>
              <a:t>Overzicht gd-m5-wis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14888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C071FE9-4EBA-5971-1095-732DC00C6C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1 </a:t>
            </a:r>
            <a:r>
              <a:rPr lang="nl-NL" dirty="0" err="1"/>
              <a:t>Draggable</a:t>
            </a:r>
            <a:r>
              <a:rPr lang="nl-NL" dirty="0"/>
              <a:t> point</a:t>
            </a:r>
            <a:endParaRPr lang="en-US" dirty="0"/>
          </a:p>
        </p:txBody>
      </p:sp>
      <p:pic>
        <p:nvPicPr>
          <p:cNvPr id="6" name="Tijdelijke aanduiding voor inhoud 4">
            <a:extLst>
              <a:ext uri="{FF2B5EF4-FFF2-40B4-BE49-F238E27FC236}">
                <a16:creationId xmlns:a16="http://schemas.microsoft.com/office/drawing/2014/main" id="{EE5A6EBE-16DD-D4FD-94AA-651436EB32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3894" y="2185706"/>
            <a:ext cx="3781732" cy="3056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25016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0C2B791-03BC-B450-1F70-562B3F123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2. De </a:t>
            </a:r>
            <a:r>
              <a:rPr lang="nl-NL" dirty="0" err="1"/>
              <a:t>GVector</a:t>
            </a:r>
            <a:endParaRPr lang="en-US" dirty="0"/>
          </a:p>
        </p:txBody>
      </p:sp>
      <p:pic>
        <p:nvPicPr>
          <p:cNvPr id="9" name="Tijdelijke aanduiding voor inhoud 8">
            <a:extLst>
              <a:ext uri="{FF2B5EF4-FFF2-40B4-BE49-F238E27FC236}">
                <a16:creationId xmlns:a16="http://schemas.microsoft.com/office/drawing/2014/main" id="{2B2C4917-409B-01A9-C472-76778BC157E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9750" y="1934369"/>
            <a:ext cx="8572500" cy="4133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59058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4B8BA2C-B69C-EA33-E644-D346829F5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Sumvector</a:t>
            </a:r>
            <a:endParaRPr lang="en-US" dirty="0"/>
          </a:p>
        </p:txBody>
      </p:sp>
      <p:pic>
        <p:nvPicPr>
          <p:cNvPr id="5" name="Tijdelijke aanduiding voor inhoud 4">
            <a:extLst>
              <a:ext uri="{FF2B5EF4-FFF2-40B4-BE49-F238E27FC236}">
                <a16:creationId xmlns:a16="http://schemas.microsoft.com/office/drawing/2014/main" id="{F74A6044-8B14-FF9F-BD44-B6E24AB98C6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6988" y="1825625"/>
            <a:ext cx="8778023" cy="4351338"/>
          </a:xfrm>
          <a:prstGeom prst="rect">
            <a:avLst/>
          </a:prstGeom>
        </p:spPr>
      </p:pic>
      <p:pic>
        <p:nvPicPr>
          <p:cNvPr id="4" name="Afbeelding 3">
            <a:extLst>
              <a:ext uri="{FF2B5EF4-FFF2-40B4-BE49-F238E27FC236}">
                <a16:creationId xmlns:a16="http://schemas.microsoft.com/office/drawing/2014/main" id="{7ED0F378-ABC5-EA5B-AB2F-34235C3604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0706" y="592546"/>
            <a:ext cx="2222511" cy="695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85863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4D46A6A-FC20-4AB2-CDF9-8D68E8F833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3. </a:t>
            </a:r>
            <a:r>
              <a:rPr lang="nl-NL" dirty="0" err="1"/>
              <a:t>Differencevector</a:t>
            </a:r>
            <a:endParaRPr lang="en-US" dirty="0"/>
          </a:p>
        </p:txBody>
      </p:sp>
      <p:pic>
        <p:nvPicPr>
          <p:cNvPr id="7" name="Tijdelijke aanduiding voor inhoud 6">
            <a:extLst>
              <a:ext uri="{FF2B5EF4-FFF2-40B4-BE49-F238E27FC236}">
                <a16:creationId xmlns:a16="http://schemas.microsoft.com/office/drawing/2014/main" id="{B4137446-16CA-9BBB-AA69-7D62C47AE84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5743" y="1825625"/>
            <a:ext cx="8740513" cy="4351338"/>
          </a:xfrm>
          <a:prstGeom prst="rect">
            <a:avLst/>
          </a:prstGeom>
        </p:spPr>
      </p:pic>
      <p:pic>
        <p:nvPicPr>
          <p:cNvPr id="9" name="Afbeelding 8">
            <a:extLst>
              <a:ext uri="{FF2B5EF4-FFF2-40B4-BE49-F238E27FC236}">
                <a16:creationId xmlns:a16="http://schemas.microsoft.com/office/drawing/2014/main" id="{5C3DFF09-BDFE-A907-5BAF-1575E5DB31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799" y="681037"/>
            <a:ext cx="1878311" cy="707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855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C9E4BD0-4EB7-5F3C-542B-7BE2EAA40B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2. Basis vectoroperaties</a:t>
            </a:r>
            <a:endParaRPr lang="en-US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6D344777-D329-8987-9423-49E95442F6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In de basis zijn er 3 vectoroperaties</a:t>
            </a:r>
          </a:p>
          <a:p>
            <a:pPr lvl="1"/>
            <a:r>
              <a:rPr lang="nl-NL" dirty="0"/>
              <a:t>Twee vectoren optellen</a:t>
            </a:r>
          </a:p>
          <a:p>
            <a:pPr lvl="1"/>
            <a:r>
              <a:rPr lang="nl-NL" dirty="0"/>
              <a:t>Twee vectoren aftrekken</a:t>
            </a:r>
          </a:p>
          <a:p>
            <a:pPr lvl="1"/>
            <a:r>
              <a:rPr lang="nl-NL" dirty="0"/>
              <a:t>Een vector vermenigvuldigen met een scalair</a:t>
            </a:r>
          </a:p>
          <a:p>
            <a:pPr lvl="1"/>
            <a:endParaRPr lang="nl-NL" dirty="0"/>
          </a:p>
          <a:p>
            <a:pPr lvl="1"/>
            <a:endParaRPr lang="en-US" dirty="0"/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6AB8E3A1-6946-0EEA-F4F4-CD84555D7F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7732" y="2283569"/>
            <a:ext cx="586791" cy="327688"/>
          </a:xfrm>
          <a:prstGeom prst="rect">
            <a:avLst/>
          </a:prstGeom>
        </p:spPr>
      </p:pic>
      <p:pic>
        <p:nvPicPr>
          <p:cNvPr id="7" name="Afbeelding 6">
            <a:extLst>
              <a:ext uri="{FF2B5EF4-FFF2-40B4-BE49-F238E27FC236}">
                <a16:creationId xmlns:a16="http://schemas.microsoft.com/office/drawing/2014/main" id="{E8FA5611-742D-23E3-A5BF-60B9523D0F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8215" y="2725874"/>
            <a:ext cx="556308" cy="281964"/>
          </a:xfrm>
          <a:prstGeom prst="rect">
            <a:avLst/>
          </a:prstGeom>
        </p:spPr>
      </p:pic>
      <p:pic>
        <p:nvPicPr>
          <p:cNvPr id="9" name="Afbeelding 8">
            <a:extLst>
              <a:ext uri="{FF2B5EF4-FFF2-40B4-BE49-F238E27FC236}">
                <a16:creationId xmlns:a16="http://schemas.microsoft.com/office/drawing/2014/main" id="{004C634A-D715-71F2-373C-02F67C69D8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4100" y="3133081"/>
            <a:ext cx="457240" cy="205758"/>
          </a:xfrm>
          <a:prstGeom prst="rect">
            <a:avLst/>
          </a:prstGeom>
        </p:spPr>
      </p:pic>
      <p:pic>
        <p:nvPicPr>
          <p:cNvPr id="15" name="Afbeelding 14">
            <a:extLst>
              <a:ext uri="{FF2B5EF4-FFF2-40B4-BE49-F238E27FC236}">
                <a16:creationId xmlns:a16="http://schemas.microsoft.com/office/drawing/2014/main" id="{291B299A-C4F4-DE9A-CDFE-B8DDE842460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1341" y="4001292"/>
            <a:ext cx="2597002" cy="1806097"/>
          </a:xfrm>
          <a:prstGeom prst="rect">
            <a:avLst/>
          </a:prstGeom>
        </p:spPr>
      </p:pic>
      <p:pic>
        <p:nvPicPr>
          <p:cNvPr id="17" name="Afbeelding 16">
            <a:extLst>
              <a:ext uri="{FF2B5EF4-FFF2-40B4-BE49-F238E27FC236}">
                <a16:creationId xmlns:a16="http://schemas.microsoft.com/office/drawing/2014/main" id="{6DF106CF-6F4D-90F3-B587-47BEA72097B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353" y="4001293"/>
            <a:ext cx="3612194" cy="1806097"/>
          </a:xfrm>
          <a:prstGeom prst="rect">
            <a:avLst/>
          </a:prstGeom>
        </p:spPr>
      </p:pic>
      <p:pic>
        <p:nvPicPr>
          <p:cNvPr id="19" name="Afbeelding 18">
            <a:extLst>
              <a:ext uri="{FF2B5EF4-FFF2-40B4-BE49-F238E27FC236}">
                <a16:creationId xmlns:a16="http://schemas.microsoft.com/office/drawing/2014/main" id="{4CB092A8-A98E-5D4D-6D9C-D68CA62F24D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7928" y="3986600"/>
            <a:ext cx="2076143" cy="1820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9292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4DB2D1E-C83A-426B-2132-D78A15F749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Toepassing basis vectoroperaties</a:t>
            </a:r>
            <a:endParaRPr lang="en-US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CDD89AF0-689C-3A12-7EFF-CEB0E1466D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114220"/>
          </a:xfrm>
        </p:spPr>
        <p:txBody>
          <a:bodyPr/>
          <a:lstStyle/>
          <a:p>
            <a:r>
              <a:rPr lang="nl-NL" dirty="0"/>
              <a:t>Maak een verplaatsbare willekeurige driehoek ∆ABC en bepaal m.b.v. vectoren de positie van de punten halverwege de zijden</a:t>
            </a:r>
            <a:endParaRPr lang="en-US" dirty="0"/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6DC29A9E-3B4C-06E4-7BB2-2A77856EFE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5003" y="2939845"/>
            <a:ext cx="3467100" cy="2914650"/>
          </a:xfrm>
          <a:prstGeom prst="rect">
            <a:avLst/>
          </a:prstGeom>
        </p:spPr>
      </p:pic>
      <p:pic>
        <p:nvPicPr>
          <p:cNvPr id="7" name="Afbeelding 6">
            <a:extLst>
              <a:ext uri="{FF2B5EF4-FFF2-40B4-BE49-F238E27FC236}">
                <a16:creationId xmlns:a16="http://schemas.microsoft.com/office/drawing/2014/main" id="{5AE76CFD-B0C4-1689-7BDE-DCC853A317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7007" y="3918156"/>
            <a:ext cx="1966130" cy="426757"/>
          </a:xfrm>
          <a:prstGeom prst="rect">
            <a:avLst/>
          </a:prstGeom>
        </p:spPr>
      </p:pic>
      <p:pic>
        <p:nvPicPr>
          <p:cNvPr id="9" name="Afbeelding 8">
            <a:extLst>
              <a:ext uri="{FF2B5EF4-FFF2-40B4-BE49-F238E27FC236}">
                <a16:creationId xmlns:a16="http://schemas.microsoft.com/office/drawing/2014/main" id="{AD1891E4-50C0-AE6B-1669-AF0DF47F2D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67007" y="4592750"/>
            <a:ext cx="2171888" cy="464860"/>
          </a:xfrm>
          <a:prstGeom prst="rect">
            <a:avLst/>
          </a:prstGeom>
        </p:spPr>
      </p:pic>
      <p:pic>
        <p:nvPicPr>
          <p:cNvPr id="11" name="Afbeelding 10">
            <a:extLst>
              <a:ext uri="{FF2B5EF4-FFF2-40B4-BE49-F238E27FC236}">
                <a16:creationId xmlns:a16="http://schemas.microsoft.com/office/drawing/2014/main" id="{45301B76-D9FA-9BF1-045D-B141B8DFEBF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67007" y="5057610"/>
            <a:ext cx="1996613" cy="396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6754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6B6BE9A-A8EA-13E0-4BAA-9F9EC49EA2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3. Normaliseren</a:t>
            </a:r>
            <a:endParaRPr lang="en-US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69EE9D9E-FE1E-980C-B736-ADE02963C1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Een vector heeft een grootte en een richting</a:t>
            </a:r>
          </a:p>
          <a:p>
            <a:pPr lvl="1"/>
            <a:r>
              <a:rPr lang="nl-NL" dirty="0"/>
              <a:t>De grootte van de vector heet de magnitude</a:t>
            </a:r>
          </a:p>
          <a:p>
            <a:pPr lvl="1"/>
            <a:r>
              <a:rPr lang="nl-NL" dirty="0"/>
              <a:t>Door de vector scalair te vermenigvuldigen met 1/magnitude krijg je een vector met lengte 1. Dit is een genormaliseerde vector en wordt vaak aangegeven met een ^(hat)</a:t>
            </a:r>
            <a:endParaRPr lang="en-US" dirty="0"/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F1A2E69A-B56C-FB10-33B3-55E34C3E73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3186" y="4207217"/>
            <a:ext cx="1920413" cy="1106462"/>
          </a:xfrm>
          <a:prstGeom prst="rect">
            <a:avLst/>
          </a:prstGeom>
        </p:spPr>
      </p:pic>
      <p:pic>
        <p:nvPicPr>
          <p:cNvPr id="7" name="Afbeelding 6">
            <a:extLst>
              <a:ext uri="{FF2B5EF4-FFF2-40B4-BE49-F238E27FC236}">
                <a16:creationId xmlns:a16="http://schemas.microsoft.com/office/drawing/2014/main" id="{478F3469-197A-4020-66B4-F06033CE0D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9824" y="4207217"/>
            <a:ext cx="2695983" cy="1078393"/>
          </a:xfrm>
          <a:prstGeom prst="rect">
            <a:avLst/>
          </a:prstGeom>
        </p:spPr>
      </p:pic>
      <p:pic>
        <p:nvPicPr>
          <p:cNvPr id="9" name="Afbeelding 8">
            <a:extLst>
              <a:ext uri="{FF2B5EF4-FFF2-40B4-BE49-F238E27FC236}">
                <a16:creationId xmlns:a16="http://schemas.microsoft.com/office/drawing/2014/main" id="{09EA659A-017C-2333-CF9F-EC45F23E78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9890" y="4207217"/>
            <a:ext cx="1882126" cy="1106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21241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8F97EB8-6124-8560-C105-4C7B5B9FD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Genormaliseerde vector</a:t>
            </a:r>
            <a:endParaRPr lang="en-US" dirty="0"/>
          </a:p>
        </p:txBody>
      </p:sp>
      <p:pic>
        <p:nvPicPr>
          <p:cNvPr id="5" name="Tijdelijke aanduiding voor inhoud 4">
            <a:extLst>
              <a:ext uri="{FF2B5EF4-FFF2-40B4-BE49-F238E27FC236}">
                <a16:creationId xmlns:a16="http://schemas.microsoft.com/office/drawing/2014/main" id="{53C49CF4-2A95-E9ED-0AB1-A5BFE84B83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3496" y="2692476"/>
            <a:ext cx="4720579" cy="3244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39613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E2CBF6B-F9C5-8084-7A7B-39E73EB2F5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4. De geparametriseerde lijn</a:t>
            </a:r>
            <a:endParaRPr lang="en-US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C4B9002C-E237-6CF0-EFFC-F40C466BF7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Vectoren worden onder andere gebruikt om een lijn te definiëren. Omdat er veel manieren zijn om lijnen te definiëren, noemt men dit </a:t>
            </a:r>
            <a:r>
              <a:rPr lang="nl-NL" dirty="0" err="1"/>
              <a:t>dit</a:t>
            </a:r>
            <a:r>
              <a:rPr lang="nl-NL" dirty="0"/>
              <a:t> geparametriseerde lijn of </a:t>
            </a:r>
            <a:r>
              <a:rPr lang="nl-NL" dirty="0" err="1"/>
              <a:t>parametric</a:t>
            </a:r>
            <a:r>
              <a:rPr lang="nl-NL" dirty="0"/>
              <a:t> line.</a:t>
            </a:r>
          </a:p>
          <a:p>
            <a:r>
              <a:rPr lang="nl-NL" dirty="0"/>
              <a:t>Een geparametriseerde lijn heeft 2 parameters (vast gekozen vectoren) en 1 variabele</a:t>
            </a:r>
          </a:p>
          <a:p>
            <a:pPr lvl="1"/>
            <a:r>
              <a:rPr lang="nl-NL" dirty="0"/>
              <a:t>Steunvector </a:t>
            </a:r>
            <a:r>
              <a:rPr lang="nl-NL" b="1" dirty="0"/>
              <a:t>s</a:t>
            </a:r>
            <a:r>
              <a:rPr lang="nl-NL" dirty="0"/>
              <a:t> (supportvector) - vector</a:t>
            </a:r>
          </a:p>
          <a:p>
            <a:pPr lvl="1"/>
            <a:r>
              <a:rPr lang="nl-NL" dirty="0"/>
              <a:t>Richtingsvector </a:t>
            </a:r>
            <a:r>
              <a:rPr lang="nl-NL" b="1" dirty="0"/>
              <a:t>d</a:t>
            </a:r>
            <a:r>
              <a:rPr lang="nl-NL" dirty="0"/>
              <a:t> (</a:t>
            </a:r>
            <a:r>
              <a:rPr lang="nl-NL" dirty="0" err="1"/>
              <a:t>directionvector</a:t>
            </a:r>
            <a:r>
              <a:rPr lang="nl-NL" dirty="0"/>
              <a:t>) – vector</a:t>
            </a:r>
          </a:p>
          <a:p>
            <a:pPr lvl="1"/>
            <a:r>
              <a:rPr lang="nl-NL" dirty="0"/>
              <a:t>variabele </a:t>
            </a:r>
            <a:r>
              <a:rPr lang="nl-NL" b="1" dirty="0"/>
              <a:t>t</a:t>
            </a:r>
            <a:r>
              <a:rPr lang="nl-NL" dirty="0"/>
              <a:t> - getal</a:t>
            </a:r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6559E71A-A7E6-DA47-5623-1E3021CCDC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7347" y="5152103"/>
            <a:ext cx="3513194" cy="943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35560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DD0B21E-E519-C9B4-BC60-D86D4F27BD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Geparametriseerde lijn</a:t>
            </a:r>
            <a:endParaRPr lang="en-US" dirty="0"/>
          </a:p>
        </p:txBody>
      </p:sp>
      <p:pic>
        <p:nvPicPr>
          <p:cNvPr id="5" name="Tijdelijke aanduiding voor inhoud 4">
            <a:extLst>
              <a:ext uri="{FF2B5EF4-FFF2-40B4-BE49-F238E27FC236}">
                <a16:creationId xmlns:a16="http://schemas.microsoft.com/office/drawing/2014/main" id="{1654B8B1-4A1C-6B63-B4B5-283B3D3144B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3625" y="1877219"/>
            <a:ext cx="7524750" cy="4248150"/>
          </a:xfrm>
          <a:prstGeom prst="rect">
            <a:avLst/>
          </a:prstGeom>
        </p:spPr>
      </p:pic>
      <p:pic>
        <p:nvPicPr>
          <p:cNvPr id="4" name="Afbeelding 3">
            <a:extLst>
              <a:ext uri="{FF2B5EF4-FFF2-40B4-BE49-F238E27FC236}">
                <a16:creationId xmlns:a16="http://schemas.microsoft.com/office/drawing/2014/main" id="{7D0F6891-9693-DEAB-0C11-EA7EB25D31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5181" y="368639"/>
            <a:ext cx="3513194" cy="943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78936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Afbeelding 14">
            <a:extLst>
              <a:ext uri="{FF2B5EF4-FFF2-40B4-BE49-F238E27FC236}">
                <a16:creationId xmlns:a16="http://schemas.microsoft.com/office/drawing/2014/main" id="{48DEA419-E2C7-1ECB-00CE-2C45128B69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9024" y="3010492"/>
            <a:ext cx="924429" cy="821713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D1516D14-E970-BF2D-4E4C-7BDFCA687E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6 De </a:t>
            </a:r>
            <a:r>
              <a:rPr lang="nl-NL" dirty="0" err="1"/>
              <a:t>normal</a:t>
            </a:r>
            <a:endParaRPr lang="en-US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534607E1-F132-615A-9992-E4DC07B00C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448517"/>
          </a:xfrm>
        </p:spPr>
        <p:txBody>
          <a:bodyPr>
            <a:normAutofit fontScale="92500" lnSpcReduction="20000"/>
          </a:bodyPr>
          <a:lstStyle/>
          <a:p>
            <a:r>
              <a:rPr lang="nl-NL" dirty="0"/>
              <a:t>De normaalvector is een genormaliseerde vector die loodrecht op een lijn of een vlak staat</a:t>
            </a:r>
          </a:p>
          <a:p>
            <a:r>
              <a:rPr lang="nl-NL" dirty="0"/>
              <a:t>In het geval van 2D gaan wij eerst werken met de normaalvector op een lijn</a:t>
            </a:r>
          </a:p>
          <a:p>
            <a:endParaRPr lang="en-US" dirty="0"/>
          </a:p>
        </p:txBody>
      </p:sp>
      <p:cxnSp>
        <p:nvCxnSpPr>
          <p:cNvPr id="4" name="Rechte verbindingslijn met pijl 3">
            <a:extLst>
              <a:ext uri="{FF2B5EF4-FFF2-40B4-BE49-F238E27FC236}">
                <a16:creationId xmlns:a16="http://schemas.microsoft.com/office/drawing/2014/main" id="{6C191512-C353-BEFE-2D41-DDF5D1975BEB}"/>
              </a:ext>
            </a:extLst>
          </p:cNvPr>
          <p:cNvCxnSpPr>
            <a:cxnSpLocks/>
          </p:cNvCxnSpPr>
          <p:nvPr/>
        </p:nvCxnSpPr>
        <p:spPr>
          <a:xfrm flipH="1" flipV="1">
            <a:off x="4829775" y="4098300"/>
            <a:ext cx="1293270" cy="2382028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" name="Groep 4">
            <a:extLst>
              <a:ext uri="{FF2B5EF4-FFF2-40B4-BE49-F238E27FC236}">
                <a16:creationId xmlns:a16="http://schemas.microsoft.com/office/drawing/2014/main" id="{6B4E8C5E-20D8-5246-7CF2-D665BC681BAD}"/>
              </a:ext>
            </a:extLst>
          </p:cNvPr>
          <p:cNvGrpSpPr/>
          <p:nvPr/>
        </p:nvGrpSpPr>
        <p:grpSpPr>
          <a:xfrm>
            <a:off x="1580046" y="3473952"/>
            <a:ext cx="9271820" cy="1769806"/>
            <a:chOff x="383458" y="2782530"/>
            <a:chExt cx="9271820" cy="1769806"/>
          </a:xfrm>
        </p:grpSpPr>
        <p:cxnSp>
          <p:nvCxnSpPr>
            <p:cNvPr id="6" name="Rechte verbindingslijn 5">
              <a:extLst>
                <a:ext uri="{FF2B5EF4-FFF2-40B4-BE49-F238E27FC236}">
                  <a16:creationId xmlns:a16="http://schemas.microsoft.com/office/drawing/2014/main" id="{602AB05A-F740-E535-88ED-522FF7F1982A}"/>
                </a:ext>
              </a:extLst>
            </p:cNvPr>
            <p:cNvCxnSpPr/>
            <p:nvPr/>
          </p:nvCxnSpPr>
          <p:spPr>
            <a:xfrm>
              <a:off x="383458" y="2782530"/>
              <a:ext cx="9271820" cy="176980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Rechte verbindingslijn met pijl 6">
              <a:extLst>
                <a:ext uri="{FF2B5EF4-FFF2-40B4-BE49-F238E27FC236}">
                  <a16:creationId xmlns:a16="http://schemas.microsoft.com/office/drawing/2014/main" id="{74928FCF-FC13-F27D-90AB-0A138400BA2C}"/>
                </a:ext>
              </a:extLst>
            </p:cNvPr>
            <p:cNvCxnSpPr>
              <a:cxnSpLocks/>
            </p:cNvCxnSpPr>
            <p:nvPr/>
          </p:nvCxnSpPr>
          <p:spPr>
            <a:xfrm>
              <a:off x="3606144" y="3406878"/>
              <a:ext cx="965856" cy="176981"/>
            </a:xfrm>
            <a:prstGeom prst="straightConnector1">
              <a:avLst/>
            </a:prstGeom>
            <a:ln w="762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8" name="Afbeelding 7">
            <a:extLst>
              <a:ext uri="{FF2B5EF4-FFF2-40B4-BE49-F238E27FC236}">
                <a16:creationId xmlns:a16="http://schemas.microsoft.com/office/drawing/2014/main" id="{BF9A1E2F-5C87-5E0D-A68E-35BA670AB3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6601" y="5186751"/>
            <a:ext cx="2317613" cy="513633"/>
          </a:xfrm>
          <a:prstGeom prst="rect">
            <a:avLst/>
          </a:prstGeom>
        </p:spPr>
      </p:pic>
      <p:pic>
        <p:nvPicPr>
          <p:cNvPr id="9" name="Afbeelding 8">
            <a:extLst>
              <a:ext uri="{FF2B5EF4-FFF2-40B4-BE49-F238E27FC236}">
                <a16:creationId xmlns:a16="http://schemas.microsoft.com/office/drawing/2014/main" id="{3A687F81-D801-AE7F-2C7F-B2C61D943D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44244" y="5365184"/>
            <a:ext cx="336747" cy="468518"/>
          </a:xfrm>
          <a:prstGeom prst="rect">
            <a:avLst/>
          </a:prstGeom>
        </p:spPr>
      </p:pic>
      <p:pic>
        <p:nvPicPr>
          <p:cNvPr id="10" name="Afbeelding 9">
            <a:extLst>
              <a:ext uri="{FF2B5EF4-FFF2-40B4-BE49-F238E27FC236}">
                <a16:creationId xmlns:a16="http://schemas.microsoft.com/office/drawing/2014/main" id="{C70C89E4-E201-62A9-2C22-7CB08B8C212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85571" y="3232584"/>
            <a:ext cx="390839" cy="820764"/>
          </a:xfrm>
          <a:prstGeom prst="rect">
            <a:avLst/>
          </a:prstGeom>
        </p:spPr>
      </p:pic>
      <p:cxnSp>
        <p:nvCxnSpPr>
          <p:cNvPr id="11" name="Rechte verbindingslijn met pijl 10">
            <a:extLst>
              <a:ext uri="{FF2B5EF4-FFF2-40B4-BE49-F238E27FC236}">
                <a16:creationId xmlns:a16="http://schemas.microsoft.com/office/drawing/2014/main" id="{6C27205A-D541-351C-5363-239F5DE790CB}"/>
              </a:ext>
            </a:extLst>
          </p:cNvPr>
          <p:cNvCxnSpPr>
            <a:cxnSpLocks/>
          </p:cNvCxnSpPr>
          <p:nvPr/>
        </p:nvCxnSpPr>
        <p:spPr>
          <a:xfrm flipV="1">
            <a:off x="6627101" y="3642966"/>
            <a:ext cx="164103" cy="796842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kstvak 12">
            <a:extLst>
              <a:ext uri="{FF2B5EF4-FFF2-40B4-BE49-F238E27FC236}">
                <a16:creationId xmlns:a16="http://schemas.microsoft.com/office/drawing/2014/main" id="{E1288CCC-6EA1-555D-B8FD-A23823CDA9DB}"/>
              </a:ext>
            </a:extLst>
          </p:cNvPr>
          <p:cNvSpPr txBox="1"/>
          <p:nvPr/>
        </p:nvSpPr>
        <p:spPr>
          <a:xfrm>
            <a:off x="6725525" y="3808740"/>
            <a:ext cx="167396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NL" sz="2800" dirty="0" err="1"/>
              <a:t>normal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22930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Afbeelding 40">
            <a:extLst>
              <a:ext uri="{FF2B5EF4-FFF2-40B4-BE49-F238E27FC236}">
                <a16:creationId xmlns:a16="http://schemas.microsoft.com/office/drawing/2014/main" id="{FBEB9B5D-B59A-3AB2-1ADF-7408084146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42431" y="5388006"/>
            <a:ext cx="463372" cy="499954"/>
          </a:xfrm>
          <a:prstGeom prst="rect">
            <a:avLst/>
          </a:prstGeom>
        </p:spPr>
      </p:pic>
      <p:pic>
        <p:nvPicPr>
          <p:cNvPr id="24" name="Tijdelijke aanduiding voor inhoud 22">
            <a:extLst>
              <a:ext uri="{FF2B5EF4-FFF2-40B4-BE49-F238E27FC236}">
                <a16:creationId xmlns:a16="http://schemas.microsoft.com/office/drawing/2014/main" id="{1109BC6A-C740-BC9D-881E-2A235360A1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3111" y="3025877"/>
            <a:ext cx="477117" cy="715674"/>
          </a:xfrm>
          <a:prstGeom prst="rect">
            <a:avLst/>
          </a:prstGeom>
        </p:spPr>
      </p:pic>
      <p:pic>
        <p:nvPicPr>
          <p:cNvPr id="28" name="Afbeelding 27">
            <a:extLst>
              <a:ext uri="{FF2B5EF4-FFF2-40B4-BE49-F238E27FC236}">
                <a16:creationId xmlns:a16="http://schemas.microsoft.com/office/drawing/2014/main" id="{CEAE555F-05B4-FDC3-FDAD-951F1FDCE1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5163" y="3741551"/>
            <a:ext cx="578916" cy="62462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C1BE52AF-FECD-E52A-070B-7FD22E9B0C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Transformatiematrix van 90° draaien</a:t>
            </a:r>
            <a:endParaRPr lang="en-US" dirty="0"/>
          </a:p>
        </p:txBody>
      </p:sp>
      <p:pic>
        <p:nvPicPr>
          <p:cNvPr id="23" name="Tijdelijke aanduiding voor inhoud 22">
            <a:extLst>
              <a:ext uri="{FF2B5EF4-FFF2-40B4-BE49-F238E27FC236}">
                <a16:creationId xmlns:a16="http://schemas.microsoft.com/office/drawing/2014/main" id="{5C2F425A-2300-118A-AECF-6F360E4DB9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422206" y="3873203"/>
            <a:ext cx="477117" cy="715674"/>
          </a:xfrm>
          <a:prstGeom prst="rect">
            <a:avLst/>
          </a:prstGeom>
        </p:spPr>
      </p:pic>
      <p:cxnSp>
        <p:nvCxnSpPr>
          <p:cNvPr id="4" name="Rechte verbindingslijn met pijl 3">
            <a:extLst>
              <a:ext uri="{FF2B5EF4-FFF2-40B4-BE49-F238E27FC236}">
                <a16:creationId xmlns:a16="http://schemas.microsoft.com/office/drawing/2014/main" id="{6DC64676-2DEC-9E0E-31E7-4C46E2A37C95}"/>
              </a:ext>
            </a:extLst>
          </p:cNvPr>
          <p:cNvCxnSpPr>
            <a:cxnSpLocks/>
          </p:cNvCxnSpPr>
          <p:nvPr/>
        </p:nvCxnSpPr>
        <p:spPr>
          <a:xfrm flipV="1">
            <a:off x="2304453" y="3025877"/>
            <a:ext cx="0" cy="847761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Rechte verbindingslijn met pijl 11">
            <a:extLst>
              <a:ext uri="{FF2B5EF4-FFF2-40B4-BE49-F238E27FC236}">
                <a16:creationId xmlns:a16="http://schemas.microsoft.com/office/drawing/2014/main" id="{D01096C4-6FFE-2B30-A504-53AA63EFFE78}"/>
              </a:ext>
            </a:extLst>
          </p:cNvPr>
          <p:cNvCxnSpPr>
            <a:cxnSpLocks/>
          </p:cNvCxnSpPr>
          <p:nvPr/>
        </p:nvCxnSpPr>
        <p:spPr>
          <a:xfrm flipV="1">
            <a:off x="2304453" y="3848459"/>
            <a:ext cx="777960" cy="24744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Rechte verbindingslijn met pijl 13">
            <a:extLst>
              <a:ext uri="{FF2B5EF4-FFF2-40B4-BE49-F238E27FC236}">
                <a16:creationId xmlns:a16="http://schemas.microsoft.com/office/drawing/2014/main" id="{7856843F-69BE-3FC7-27CD-B35AE18045AF}"/>
              </a:ext>
            </a:extLst>
          </p:cNvPr>
          <p:cNvCxnSpPr>
            <a:cxnSpLocks/>
          </p:cNvCxnSpPr>
          <p:nvPr/>
        </p:nvCxnSpPr>
        <p:spPr>
          <a:xfrm flipH="1">
            <a:off x="4272152" y="3840508"/>
            <a:ext cx="691926" cy="24744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Rechte verbindingslijn met pijl 14">
            <a:extLst>
              <a:ext uri="{FF2B5EF4-FFF2-40B4-BE49-F238E27FC236}">
                <a16:creationId xmlns:a16="http://schemas.microsoft.com/office/drawing/2014/main" id="{0E769985-EA16-CC42-4ED9-E3AEFC125E4E}"/>
              </a:ext>
            </a:extLst>
          </p:cNvPr>
          <p:cNvCxnSpPr>
            <a:cxnSpLocks/>
          </p:cNvCxnSpPr>
          <p:nvPr/>
        </p:nvCxnSpPr>
        <p:spPr>
          <a:xfrm flipV="1">
            <a:off x="4964078" y="3017926"/>
            <a:ext cx="0" cy="822147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6" name="Afbeelding 25">
            <a:extLst>
              <a:ext uri="{FF2B5EF4-FFF2-40B4-BE49-F238E27FC236}">
                <a16:creationId xmlns:a16="http://schemas.microsoft.com/office/drawing/2014/main" id="{6144EF17-3E20-6D41-C88F-4E2AFAAD0D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7785" y="3116931"/>
            <a:ext cx="578916" cy="624620"/>
          </a:xfrm>
          <a:prstGeom prst="rect">
            <a:avLst/>
          </a:prstGeom>
        </p:spPr>
      </p:pic>
      <p:pic>
        <p:nvPicPr>
          <p:cNvPr id="30" name="Afbeelding 29">
            <a:extLst>
              <a:ext uri="{FF2B5EF4-FFF2-40B4-BE49-F238E27FC236}">
                <a16:creationId xmlns:a16="http://schemas.microsoft.com/office/drawing/2014/main" id="{35D92C69-00AF-15A3-4009-AEDD0B0E12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4622" y="2930747"/>
            <a:ext cx="3840419" cy="1645893"/>
          </a:xfrm>
          <a:prstGeom prst="rect">
            <a:avLst/>
          </a:prstGeom>
        </p:spPr>
      </p:pic>
      <p:sp>
        <p:nvSpPr>
          <p:cNvPr id="31" name="Ovaal 30">
            <a:extLst>
              <a:ext uri="{FF2B5EF4-FFF2-40B4-BE49-F238E27FC236}">
                <a16:creationId xmlns:a16="http://schemas.microsoft.com/office/drawing/2014/main" id="{7305CB02-914F-E017-86A0-57CFA6C924F5}"/>
              </a:ext>
            </a:extLst>
          </p:cNvPr>
          <p:cNvSpPr/>
          <p:nvPr/>
        </p:nvSpPr>
        <p:spPr>
          <a:xfrm>
            <a:off x="7668221" y="2831278"/>
            <a:ext cx="707881" cy="1820544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al 32">
            <a:extLst>
              <a:ext uri="{FF2B5EF4-FFF2-40B4-BE49-F238E27FC236}">
                <a16:creationId xmlns:a16="http://schemas.microsoft.com/office/drawing/2014/main" id="{0D9E3F67-DE8E-8305-C826-2238DC8E0604}"/>
              </a:ext>
            </a:extLst>
          </p:cNvPr>
          <p:cNvSpPr/>
          <p:nvPr/>
        </p:nvSpPr>
        <p:spPr>
          <a:xfrm>
            <a:off x="8524568" y="2831278"/>
            <a:ext cx="824654" cy="1820544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kstvak 33">
            <a:extLst>
              <a:ext uri="{FF2B5EF4-FFF2-40B4-BE49-F238E27FC236}">
                <a16:creationId xmlns:a16="http://schemas.microsoft.com/office/drawing/2014/main" id="{9EE02919-24BF-E996-A188-F07FB78EC2C4}"/>
              </a:ext>
            </a:extLst>
          </p:cNvPr>
          <p:cNvSpPr txBox="1"/>
          <p:nvPr/>
        </p:nvSpPr>
        <p:spPr>
          <a:xfrm>
            <a:off x="6960277" y="5194077"/>
            <a:ext cx="10618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/>
              <a:t>Plaats van</a:t>
            </a:r>
            <a:endParaRPr lang="en-US" dirty="0"/>
          </a:p>
        </p:txBody>
      </p:sp>
      <p:sp>
        <p:nvSpPr>
          <p:cNvPr id="38" name="Tekstvak 37">
            <a:extLst>
              <a:ext uri="{FF2B5EF4-FFF2-40B4-BE49-F238E27FC236}">
                <a16:creationId xmlns:a16="http://schemas.microsoft.com/office/drawing/2014/main" id="{C6AFB99A-375D-C50B-EB2E-B04B249286B1}"/>
              </a:ext>
            </a:extLst>
          </p:cNvPr>
          <p:cNvSpPr txBox="1"/>
          <p:nvPr/>
        </p:nvSpPr>
        <p:spPr>
          <a:xfrm>
            <a:off x="8785201" y="5184894"/>
            <a:ext cx="9206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/>
              <a:t>Plaats van</a:t>
            </a:r>
            <a:endParaRPr lang="en-US" dirty="0"/>
          </a:p>
        </p:txBody>
      </p:sp>
      <p:pic>
        <p:nvPicPr>
          <p:cNvPr id="39" name="Tijdelijke aanduiding voor inhoud 22">
            <a:extLst>
              <a:ext uri="{FF2B5EF4-FFF2-40B4-BE49-F238E27FC236}">
                <a16:creationId xmlns:a16="http://schemas.microsoft.com/office/drawing/2014/main" id="{3339A377-6B58-2F59-C011-77C5FBB38B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8320" y="5435558"/>
            <a:ext cx="269901" cy="404850"/>
          </a:xfrm>
          <a:prstGeom prst="rect">
            <a:avLst/>
          </a:prstGeom>
        </p:spPr>
      </p:pic>
      <p:cxnSp>
        <p:nvCxnSpPr>
          <p:cNvPr id="43" name="Rechte verbindingslijn 42">
            <a:extLst>
              <a:ext uri="{FF2B5EF4-FFF2-40B4-BE49-F238E27FC236}">
                <a16:creationId xmlns:a16="http://schemas.microsoft.com/office/drawing/2014/main" id="{7E540EFF-404A-CF8F-FCC3-601B85E500F0}"/>
              </a:ext>
            </a:extLst>
          </p:cNvPr>
          <p:cNvCxnSpPr>
            <a:cxnSpLocks/>
            <a:endCxn id="34" idx="0"/>
          </p:cNvCxnSpPr>
          <p:nvPr/>
        </p:nvCxnSpPr>
        <p:spPr>
          <a:xfrm flipH="1">
            <a:off x="7491219" y="4564497"/>
            <a:ext cx="404084" cy="62958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Rechte verbindingslijn 44">
            <a:extLst>
              <a:ext uri="{FF2B5EF4-FFF2-40B4-BE49-F238E27FC236}">
                <a16:creationId xmlns:a16="http://schemas.microsoft.com/office/drawing/2014/main" id="{91180A34-4A09-D2B3-8995-6C1D59919CE2}"/>
              </a:ext>
            </a:extLst>
          </p:cNvPr>
          <p:cNvCxnSpPr>
            <a:cxnSpLocks/>
            <a:endCxn id="38" idx="0"/>
          </p:cNvCxnSpPr>
          <p:nvPr/>
        </p:nvCxnSpPr>
        <p:spPr>
          <a:xfrm>
            <a:off x="9119694" y="4588877"/>
            <a:ext cx="125808" cy="59601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Rechte verbindingslijn 47">
            <a:extLst>
              <a:ext uri="{FF2B5EF4-FFF2-40B4-BE49-F238E27FC236}">
                <a16:creationId xmlns:a16="http://schemas.microsoft.com/office/drawing/2014/main" id="{6C5A16BC-9A20-828A-5266-FB5DEFC77F7F}"/>
              </a:ext>
            </a:extLst>
          </p:cNvPr>
          <p:cNvCxnSpPr>
            <a:cxnSpLocks/>
          </p:cNvCxnSpPr>
          <p:nvPr/>
        </p:nvCxnSpPr>
        <p:spPr>
          <a:xfrm>
            <a:off x="2280093" y="2490843"/>
            <a:ext cx="33463" cy="250141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Rechte verbindingslijn 49">
            <a:extLst>
              <a:ext uri="{FF2B5EF4-FFF2-40B4-BE49-F238E27FC236}">
                <a16:creationId xmlns:a16="http://schemas.microsoft.com/office/drawing/2014/main" id="{D0C80A4D-ED16-AD0E-B15C-4862E03050F0}"/>
              </a:ext>
            </a:extLst>
          </p:cNvPr>
          <p:cNvCxnSpPr>
            <a:cxnSpLocks/>
          </p:cNvCxnSpPr>
          <p:nvPr/>
        </p:nvCxnSpPr>
        <p:spPr>
          <a:xfrm>
            <a:off x="4930615" y="2589366"/>
            <a:ext cx="33463" cy="250141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Rechte verbindingslijn 50">
            <a:extLst>
              <a:ext uri="{FF2B5EF4-FFF2-40B4-BE49-F238E27FC236}">
                <a16:creationId xmlns:a16="http://schemas.microsoft.com/office/drawing/2014/main" id="{423BEDE6-3B10-22B3-1A2D-71FDC4B94E8A}"/>
              </a:ext>
            </a:extLst>
          </p:cNvPr>
          <p:cNvCxnSpPr>
            <a:cxnSpLocks/>
          </p:cNvCxnSpPr>
          <p:nvPr/>
        </p:nvCxnSpPr>
        <p:spPr>
          <a:xfrm>
            <a:off x="1278194" y="3860831"/>
            <a:ext cx="194399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Rechte verbindingslijn 54">
            <a:extLst>
              <a:ext uri="{FF2B5EF4-FFF2-40B4-BE49-F238E27FC236}">
                <a16:creationId xmlns:a16="http://schemas.microsoft.com/office/drawing/2014/main" id="{431DA1E1-A473-7A8C-8B39-CCEBD8022AE2}"/>
              </a:ext>
            </a:extLst>
          </p:cNvPr>
          <p:cNvCxnSpPr>
            <a:cxnSpLocks/>
          </p:cNvCxnSpPr>
          <p:nvPr/>
        </p:nvCxnSpPr>
        <p:spPr>
          <a:xfrm>
            <a:off x="4160915" y="3840073"/>
            <a:ext cx="194399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kstvak 55">
            <a:extLst>
              <a:ext uri="{FF2B5EF4-FFF2-40B4-BE49-F238E27FC236}">
                <a16:creationId xmlns:a16="http://schemas.microsoft.com/office/drawing/2014/main" id="{F51874DA-A3CA-9A37-0911-667C0BC76C76}"/>
              </a:ext>
            </a:extLst>
          </p:cNvPr>
          <p:cNvSpPr txBox="1"/>
          <p:nvPr/>
        </p:nvSpPr>
        <p:spPr>
          <a:xfrm>
            <a:off x="2321428" y="2806505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/>
              <a:t>1</a:t>
            </a:r>
            <a:endParaRPr lang="en-US" dirty="0"/>
          </a:p>
        </p:txBody>
      </p:sp>
      <p:sp>
        <p:nvSpPr>
          <p:cNvPr id="58" name="Tekstvak 57">
            <a:extLst>
              <a:ext uri="{FF2B5EF4-FFF2-40B4-BE49-F238E27FC236}">
                <a16:creationId xmlns:a16="http://schemas.microsoft.com/office/drawing/2014/main" id="{3BD22642-2BB9-FCBB-251A-8F48CBD769A3}"/>
              </a:ext>
            </a:extLst>
          </p:cNvPr>
          <p:cNvSpPr txBox="1"/>
          <p:nvPr/>
        </p:nvSpPr>
        <p:spPr>
          <a:xfrm>
            <a:off x="2995049" y="3502402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/>
              <a:t>1</a:t>
            </a:r>
            <a:endParaRPr lang="en-US" dirty="0"/>
          </a:p>
        </p:txBody>
      </p:sp>
      <p:sp>
        <p:nvSpPr>
          <p:cNvPr id="60" name="Tekstvak 59">
            <a:extLst>
              <a:ext uri="{FF2B5EF4-FFF2-40B4-BE49-F238E27FC236}">
                <a16:creationId xmlns:a16="http://schemas.microsoft.com/office/drawing/2014/main" id="{31084DC1-1420-D61B-9F9A-DB881CE9E3F1}"/>
              </a:ext>
            </a:extLst>
          </p:cNvPr>
          <p:cNvSpPr txBox="1"/>
          <p:nvPr/>
        </p:nvSpPr>
        <p:spPr>
          <a:xfrm>
            <a:off x="1185183" y="3958272"/>
            <a:ext cx="3692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/>
              <a:t>-1</a:t>
            </a:r>
            <a:endParaRPr lang="en-US" dirty="0"/>
          </a:p>
        </p:txBody>
      </p:sp>
      <p:sp>
        <p:nvSpPr>
          <p:cNvPr id="62" name="Tekstvak 61">
            <a:extLst>
              <a:ext uri="{FF2B5EF4-FFF2-40B4-BE49-F238E27FC236}">
                <a16:creationId xmlns:a16="http://schemas.microsoft.com/office/drawing/2014/main" id="{3B161F7D-461F-611E-C7E5-3ED88198D6DE}"/>
              </a:ext>
            </a:extLst>
          </p:cNvPr>
          <p:cNvSpPr txBox="1"/>
          <p:nvPr/>
        </p:nvSpPr>
        <p:spPr>
          <a:xfrm>
            <a:off x="1952160" y="4682565"/>
            <a:ext cx="3692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/>
              <a:t>-1</a:t>
            </a:r>
            <a:endParaRPr lang="en-US" dirty="0"/>
          </a:p>
        </p:txBody>
      </p:sp>
      <p:sp>
        <p:nvSpPr>
          <p:cNvPr id="64" name="Tekstvak 63">
            <a:extLst>
              <a:ext uri="{FF2B5EF4-FFF2-40B4-BE49-F238E27FC236}">
                <a16:creationId xmlns:a16="http://schemas.microsoft.com/office/drawing/2014/main" id="{92E34C3B-3E28-6928-D8D4-7E14288D32C6}"/>
              </a:ext>
            </a:extLst>
          </p:cNvPr>
          <p:cNvSpPr txBox="1"/>
          <p:nvPr/>
        </p:nvSpPr>
        <p:spPr>
          <a:xfrm>
            <a:off x="4965661" y="285563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/>
              <a:t>1</a:t>
            </a:r>
            <a:endParaRPr lang="en-US" dirty="0"/>
          </a:p>
        </p:txBody>
      </p:sp>
      <p:sp>
        <p:nvSpPr>
          <p:cNvPr id="66" name="Tekstvak 65">
            <a:extLst>
              <a:ext uri="{FF2B5EF4-FFF2-40B4-BE49-F238E27FC236}">
                <a16:creationId xmlns:a16="http://schemas.microsoft.com/office/drawing/2014/main" id="{11F9DE39-2A17-9F66-4D57-D76FE63AA39A}"/>
              </a:ext>
            </a:extLst>
          </p:cNvPr>
          <p:cNvSpPr txBox="1"/>
          <p:nvPr/>
        </p:nvSpPr>
        <p:spPr>
          <a:xfrm>
            <a:off x="5639282" y="3551535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/>
              <a:t>1</a:t>
            </a:r>
            <a:endParaRPr lang="en-US" dirty="0"/>
          </a:p>
        </p:txBody>
      </p:sp>
      <p:sp>
        <p:nvSpPr>
          <p:cNvPr id="68" name="Tekstvak 67">
            <a:extLst>
              <a:ext uri="{FF2B5EF4-FFF2-40B4-BE49-F238E27FC236}">
                <a16:creationId xmlns:a16="http://schemas.microsoft.com/office/drawing/2014/main" id="{0A286074-AECB-AB1C-2A35-7D6017467EC4}"/>
              </a:ext>
            </a:extLst>
          </p:cNvPr>
          <p:cNvSpPr txBox="1"/>
          <p:nvPr/>
        </p:nvSpPr>
        <p:spPr>
          <a:xfrm>
            <a:off x="4017438" y="3839639"/>
            <a:ext cx="3692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/>
              <a:t>-1</a:t>
            </a:r>
            <a:endParaRPr lang="en-US" dirty="0"/>
          </a:p>
        </p:txBody>
      </p:sp>
      <p:sp>
        <p:nvSpPr>
          <p:cNvPr id="70" name="Tekstvak 69">
            <a:extLst>
              <a:ext uri="{FF2B5EF4-FFF2-40B4-BE49-F238E27FC236}">
                <a16:creationId xmlns:a16="http://schemas.microsoft.com/office/drawing/2014/main" id="{C92BDB20-7DCF-B701-83F3-3CF4C0816B53}"/>
              </a:ext>
            </a:extLst>
          </p:cNvPr>
          <p:cNvSpPr txBox="1"/>
          <p:nvPr/>
        </p:nvSpPr>
        <p:spPr>
          <a:xfrm>
            <a:off x="4594810" y="4651822"/>
            <a:ext cx="3692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/>
              <a:t>-1</a:t>
            </a:r>
            <a:endParaRPr lang="en-US" dirty="0"/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7D9160A3-1F27-1219-5E7B-C0D77B5CEB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7785" y="5168200"/>
            <a:ext cx="3840419" cy="1645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01515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9FB974A-85E1-B4F4-03E3-6DF4CD57B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Normaalvector</a:t>
            </a:r>
            <a:r>
              <a:rPr lang="en-US" dirty="0"/>
              <a:t> van </a:t>
            </a:r>
            <a:r>
              <a:rPr lang="en-US" dirty="0" err="1"/>
              <a:t>een</a:t>
            </a:r>
            <a:r>
              <a:rPr lang="en-US" dirty="0"/>
              <a:t> </a:t>
            </a:r>
            <a:r>
              <a:rPr lang="en-US" dirty="0" err="1"/>
              <a:t>lijn</a:t>
            </a:r>
            <a:endParaRPr lang="nl-NL" dirty="0"/>
          </a:p>
        </p:txBody>
      </p:sp>
      <p:pic>
        <p:nvPicPr>
          <p:cNvPr id="5" name="Tijdelijke aanduiding voor inhoud 4">
            <a:extLst>
              <a:ext uri="{FF2B5EF4-FFF2-40B4-BE49-F238E27FC236}">
                <a16:creationId xmlns:a16="http://schemas.microsoft.com/office/drawing/2014/main" id="{01733CE0-272F-6740-35C4-C210B9A6C97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1848644"/>
            <a:ext cx="10287000" cy="4305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253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AC19C4D-BF45-86C0-4907-CEE712736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5. De transformatie matrix</a:t>
            </a:r>
            <a:endParaRPr lang="en-US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79C40D60-0E04-6E33-C2A7-6A37F3530F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Om een vector te veranderen wordt vaak een Matrix gebruikt. </a:t>
            </a:r>
          </a:p>
          <a:p>
            <a:r>
              <a:rPr lang="nl-NL" dirty="0"/>
              <a:t>Als introductie gebruiken wij een 2x2 Matrix </a:t>
            </a:r>
            <a:br>
              <a:rPr lang="nl-NL" dirty="0"/>
            </a:br>
            <a:endParaRPr lang="en-US" dirty="0"/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414E56BC-CF51-FD8E-C999-4A6116D269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0644" y="2765068"/>
            <a:ext cx="1985048" cy="1510744"/>
          </a:xfrm>
          <a:prstGeom prst="rect">
            <a:avLst/>
          </a:prstGeom>
        </p:spPr>
      </p:pic>
      <p:sp>
        <p:nvSpPr>
          <p:cNvPr id="6" name="Tijdelijke aanduiding voor inhoud 2">
            <a:extLst>
              <a:ext uri="{FF2B5EF4-FFF2-40B4-BE49-F238E27FC236}">
                <a16:creationId xmlns:a16="http://schemas.microsoft.com/office/drawing/2014/main" id="{C44C7E4A-05F7-E31D-30A6-C60AA94207F1}"/>
              </a:ext>
            </a:extLst>
          </p:cNvPr>
          <p:cNvSpPr txBox="1">
            <a:spLocks/>
          </p:cNvSpPr>
          <p:nvPr/>
        </p:nvSpPr>
        <p:spPr>
          <a:xfrm>
            <a:off x="838200" y="4410749"/>
            <a:ext cx="10515600" cy="6695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dirty="0"/>
              <a:t>Als deze Matrix op een vector werkt, gaat dat:</a:t>
            </a:r>
            <a:endParaRPr lang="en-US" dirty="0"/>
          </a:p>
        </p:txBody>
      </p:sp>
      <p:pic>
        <p:nvPicPr>
          <p:cNvPr id="8" name="Afbeelding 7">
            <a:extLst>
              <a:ext uri="{FF2B5EF4-FFF2-40B4-BE49-F238E27FC236}">
                <a16:creationId xmlns:a16="http://schemas.microsoft.com/office/drawing/2014/main" id="{603D8784-A33E-1D7D-7DED-0B2C4EF0D2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157" y="5215255"/>
            <a:ext cx="5498368" cy="1459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19929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90E8248-2AA2-9BE5-4368-35DF7093B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Voorbeeld 2x2 Matrix</a:t>
            </a:r>
            <a:endParaRPr lang="en-US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FB3B77E2-DD5F-DF65-D0A7-16DAB35B6D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3"/>
            <a:ext cx="10515600" cy="1181735"/>
          </a:xfrm>
        </p:spPr>
        <p:txBody>
          <a:bodyPr/>
          <a:lstStyle/>
          <a:p>
            <a:r>
              <a:rPr lang="nl-NL" dirty="0"/>
              <a:t>Bij een 2x2 Matrix</a:t>
            </a:r>
          </a:p>
          <a:p>
            <a:r>
              <a:rPr lang="nl-NL" dirty="0"/>
              <a:t>Voorbeeld: laat de </a:t>
            </a:r>
            <a:r>
              <a:rPr lang="nl-NL" dirty="0" err="1"/>
              <a:t>tranformatiematrix</a:t>
            </a:r>
            <a:r>
              <a:rPr lang="nl-NL" dirty="0"/>
              <a:t>                      werken op vector </a:t>
            </a:r>
            <a:endParaRPr lang="en-US" dirty="0"/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A98B7271-5F52-81A8-C5EE-0110700419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5510" y="3218386"/>
            <a:ext cx="4003040" cy="1654241"/>
          </a:xfrm>
          <a:prstGeom prst="rect">
            <a:avLst/>
          </a:prstGeom>
        </p:spPr>
      </p:pic>
      <p:pic>
        <p:nvPicPr>
          <p:cNvPr id="7" name="Afbeelding 6">
            <a:extLst>
              <a:ext uri="{FF2B5EF4-FFF2-40B4-BE49-F238E27FC236}">
                <a16:creationId xmlns:a16="http://schemas.microsoft.com/office/drawing/2014/main" id="{0385647B-C3D6-19A6-753B-888FFA6541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935" y="3249072"/>
            <a:ext cx="1527129" cy="1497534"/>
          </a:xfrm>
          <a:prstGeom prst="rect">
            <a:avLst/>
          </a:prstGeom>
        </p:spPr>
      </p:pic>
      <p:pic>
        <p:nvPicPr>
          <p:cNvPr id="11" name="Afbeelding 10">
            <a:extLst>
              <a:ext uri="{FF2B5EF4-FFF2-40B4-BE49-F238E27FC236}">
                <a16:creationId xmlns:a16="http://schemas.microsoft.com/office/drawing/2014/main" id="{C1232325-F2B1-0FB6-D8EB-D6B5DF55A5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350" y="5304684"/>
            <a:ext cx="6729398" cy="1276505"/>
          </a:xfrm>
          <a:prstGeom prst="rect">
            <a:avLst/>
          </a:prstGeom>
        </p:spPr>
      </p:pic>
      <p:pic>
        <p:nvPicPr>
          <p:cNvPr id="13" name="Afbeelding 12">
            <a:extLst>
              <a:ext uri="{FF2B5EF4-FFF2-40B4-BE49-F238E27FC236}">
                <a16:creationId xmlns:a16="http://schemas.microsoft.com/office/drawing/2014/main" id="{0CC9251D-6B7A-E045-700C-BD390CDF67F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06555" y="2084005"/>
            <a:ext cx="1355125" cy="1058288"/>
          </a:xfrm>
          <a:prstGeom prst="rect">
            <a:avLst/>
          </a:prstGeom>
        </p:spPr>
      </p:pic>
      <p:pic>
        <p:nvPicPr>
          <p:cNvPr id="15" name="Afbeelding 14">
            <a:extLst>
              <a:ext uri="{FF2B5EF4-FFF2-40B4-BE49-F238E27FC236}">
                <a16:creationId xmlns:a16="http://schemas.microsoft.com/office/drawing/2014/main" id="{3673C8DF-8E17-4A99-7A36-8D5C8514B1D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36960" y="1899851"/>
            <a:ext cx="651524" cy="1242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5807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09999B8-0825-34FC-B003-689223A3E4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Toepassing transformatie matrix</a:t>
            </a:r>
            <a:endParaRPr lang="en-US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2F4139E2-1E68-F1AC-B37F-5D0B715021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9740" y="1853887"/>
            <a:ext cx="9870440" cy="978535"/>
          </a:xfrm>
        </p:spPr>
        <p:txBody>
          <a:bodyPr/>
          <a:lstStyle/>
          <a:p>
            <a:r>
              <a:rPr lang="nl-NL" dirty="0"/>
              <a:t>Laat een bal met constante snelheid bij de grenzen van het speelveld reflecteren in de x-as en in de y-as</a:t>
            </a:r>
            <a:endParaRPr lang="en-US" dirty="0"/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59551D89-4CB5-6384-306E-40971AD8C7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2239" y="2646642"/>
            <a:ext cx="3246629" cy="1224318"/>
          </a:xfrm>
          <a:prstGeom prst="rect">
            <a:avLst/>
          </a:prstGeom>
        </p:spPr>
      </p:pic>
      <p:pic>
        <p:nvPicPr>
          <p:cNvPr id="7" name="Afbeelding 6">
            <a:extLst>
              <a:ext uri="{FF2B5EF4-FFF2-40B4-BE49-F238E27FC236}">
                <a16:creationId xmlns:a16="http://schemas.microsoft.com/office/drawing/2014/main" id="{9FF55551-AFDD-7F0E-FFBD-41428F3256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5180" y="2646642"/>
            <a:ext cx="3692878" cy="1137986"/>
          </a:xfrm>
          <a:prstGeom prst="rect">
            <a:avLst/>
          </a:prstGeom>
        </p:spPr>
      </p:pic>
      <p:pic>
        <p:nvPicPr>
          <p:cNvPr id="11" name="Afbeelding 10">
            <a:extLst>
              <a:ext uri="{FF2B5EF4-FFF2-40B4-BE49-F238E27FC236}">
                <a16:creationId xmlns:a16="http://schemas.microsoft.com/office/drawing/2014/main" id="{5E51D149-15E4-837B-4C82-14E9603259E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0620" y="3986859"/>
            <a:ext cx="4389120" cy="2505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34725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C8AF236-3C7B-54E7-2390-D35FBB60C5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Intersection</a:t>
            </a:r>
            <a:r>
              <a:rPr lang="nl-NL" dirty="0"/>
              <a:t> </a:t>
            </a:r>
            <a:endParaRPr lang="en-US" dirty="0"/>
          </a:p>
        </p:txBody>
      </p:sp>
      <p:pic>
        <p:nvPicPr>
          <p:cNvPr id="5" name="Tijdelijke aanduiding voor inhoud 4">
            <a:extLst>
              <a:ext uri="{FF2B5EF4-FFF2-40B4-BE49-F238E27FC236}">
                <a16:creationId xmlns:a16="http://schemas.microsoft.com/office/drawing/2014/main" id="{B4A544B9-EFBB-18CE-92A5-FC7EB13FE7D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6284" y="1825625"/>
            <a:ext cx="875943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56954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Afbeelding 43">
            <a:extLst>
              <a:ext uri="{FF2B5EF4-FFF2-40B4-BE49-F238E27FC236}">
                <a16:creationId xmlns:a16="http://schemas.microsoft.com/office/drawing/2014/main" id="{B511B94A-86BA-FA3C-0362-D136551D5D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2962" y="3739522"/>
            <a:ext cx="400689" cy="400689"/>
          </a:xfrm>
          <a:prstGeom prst="rect">
            <a:avLst/>
          </a:prstGeom>
        </p:spPr>
      </p:pic>
      <p:pic>
        <p:nvPicPr>
          <p:cNvPr id="42" name="Afbeelding 41">
            <a:extLst>
              <a:ext uri="{FF2B5EF4-FFF2-40B4-BE49-F238E27FC236}">
                <a16:creationId xmlns:a16="http://schemas.microsoft.com/office/drawing/2014/main" id="{9C27248B-DEE3-7229-D2A3-D14BC9F638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4313051" y="2848877"/>
            <a:ext cx="2028397" cy="554271"/>
          </a:xfrm>
          <a:prstGeom prst="rect">
            <a:avLst/>
          </a:prstGeom>
        </p:spPr>
      </p:pic>
      <p:pic>
        <p:nvPicPr>
          <p:cNvPr id="38" name="Afbeelding 37">
            <a:extLst>
              <a:ext uri="{FF2B5EF4-FFF2-40B4-BE49-F238E27FC236}">
                <a16:creationId xmlns:a16="http://schemas.microsoft.com/office/drawing/2014/main" id="{B7B4B603-81DE-DC3C-8726-45072CC4DA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04387" y="4202144"/>
            <a:ext cx="2137068" cy="568237"/>
          </a:xfrm>
          <a:prstGeom prst="rect">
            <a:avLst/>
          </a:prstGeom>
        </p:spPr>
      </p:pic>
      <p:pic>
        <p:nvPicPr>
          <p:cNvPr id="36" name="Afbeelding 35">
            <a:extLst>
              <a:ext uri="{FF2B5EF4-FFF2-40B4-BE49-F238E27FC236}">
                <a16:creationId xmlns:a16="http://schemas.microsoft.com/office/drawing/2014/main" id="{40C16989-78E2-750A-9317-B5BFB4FCA7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23943" y="2063262"/>
            <a:ext cx="417511" cy="494827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BAF1CD73-7952-A41D-39CD-F097AFD58C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polar</a:t>
            </a:r>
            <a:r>
              <a:rPr lang="nl-NL" dirty="0"/>
              <a:t> </a:t>
            </a:r>
            <a:r>
              <a:rPr lang="nl-NL" dirty="0" err="1"/>
              <a:t>coordinates</a:t>
            </a:r>
            <a:endParaRPr lang="en-US" dirty="0"/>
          </a:p>
        </p:txBody>
      </p:sp>
      <p:cxnSp>
        <p:nvCxnSpPr>
          <p:cNvPr id="8" name="Rechte verbindingslijn 7">
            <a:extLst>
              <a:ext uri="{FF2B5EF4-FFF2-40B4-BE49-F238E27FC236}">
                <a16:creationId xmlns:a16="http://schemas.microsoft.com/office/drawing/2014/main" id="{AE526809-6FE5-A228-3886-ED3575E529E7}"/>
              </a:ext>
            </a:extLst>
          </p:cNvPr>
          <p:cNvCxnSpPr/>
          <p:nvPr/>
        </p:nvCxnSpPr>
        <p:spPr>
          <a:xfrm>
            <a:off x="1897626" y="4159045"/>
            <a:ext cx="859339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Rechte verbindingslijn 9">
            <a:extLst>
              <a:ext uri="{FF2B5EF4-FFF2-40B4-BE49-F238E27FC236}">
                <a16:creationId xmlns:a16="http://schemas.microsoft.com/office/drawing/2014/main" id="{33C791BB-4B72-DA03-6DEA-F9237DEA923F}"/>
              </a:ext>
            </a:extLst>
          </p:cNvPr>
          <p:cNvCxnSpPr>
            <a:cxnSpLocks/>
          </p:cNvCxnSpPr>
          <p:nvPr/>
        </p:nvCxnSpPr>
        <p:spPr>
          <a:xfrm flipV="1">
            <a:off x="5604387" y="1497755"/>
            <a:ext cx="0" cy="525700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al 10">
            <a:extLst>
              <a:ext uri="{FF2B5EF4-FFF2-40B4-BE49-F238E27FC236}">
                <a16:creationId xmlns:a16="http://schemas.microsoft.com/office/drawing/2014/main" id="{BD154D67-34B5-2140-5427-149E43FD18D6}"/>
              </a:ext>
            </a:extLst>
          </p:cNvPr>
          <p:cNvSpPr/>
          <p:nvPr/>
        </p:nvSpPr>
        <p:spPr>
          <a:xfrm>
            <a:off x="3172568" y="1714141"/>
            <a:ext cx="4863638" cy="4863638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Rechte verbindingslijn met pijl 14">
            <a:extLst>
              <a:ext uri="{FF2B5EF4-FFF2-40B4-BE49-F238E27FC236}">
                <a16:creationId xmlns:a16="http://schemas.microsoft.com/office/drawing/2014/main" id="{A8F0CFB7-4103-4B85-ADCE-E3C51E8A9729}"/>
              </a:ext>
            </a:extLst>
          </p:cNvPr>
          <p:cNvCxnSpPr>
            <a:cxnSpLocks/>
            <a:endCxn id="11" idx="7"/>
          </p:cNvCxnSpPr>
          <p:nvPr/>
        </p:nvCxnSpPr>
        <p:spPr>
          <a:xfrm flipV="1">
            <a:off x="5604387" y="2426404"/>
            <a:ext cx="1719556" cy="1719556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Rechte verbindingslijn 16">
            <a:extLst>
              <a:ext uri="{FF2B5EF4-FFF2-40B4-BE49-F238E27FC236}">
                <a16:creationId xmlns:a16="http://schemas.microsoft.com/office/drawing/2014/main" id="{55D5C6F7-9506-CCB7-F1C3-EAD369C8FF11}"/>
              </a:ext>
            </a:extLst>
          </p:cNvPr>
          <p:cNvCxnSpPr>
            <a:cxnSpLocks/>
          </p:cNvCxnSpPr>
          <p:nvPr/>
        </p:nvCxnSpPr>
        <p:spPr>
          <a:xfrm flipV="1">
            <a:off x="7323943" y="2426404"/>
            <a:ext cx="0" cy="1719556"/>
          </a:xfrm>
          <a:prstGeom prst="line">
            <a:avLst/>
          </a:prstGeom>
          <a:ln w="3810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Rechte verbindingslijn 17">
            <a:extLst>
              <a:ext uri="{FF2B5EF4-FFF2-40B4-BE49-F238E27FC236}">
                <a16:creationId xmlns:a16="http://schemas.microsoft.com/office/drawing/2014/main" id="{A0571BAE-93C6-97CC-3537-FC61AA7B01A2}"/>
              </a:ext>
            </a:extLst>
          </p:cNvPr>
          <p:cNvCxnSpPr>
            <a:cxnSpLocks/>
          </p:cNvCxnSpPr>
          <p:nvPr/>
        </p:nvCxnSpPr>
        <p:spPr>
          <a:xfrm flipH="1">
            <a:off x="5604386" y="2426404"/>
            <a:ext cx="1719557" cy="0"/>
          </a:xfrm>
          <a:prstGeom prst="line">
            <a:avLst/>
          </a:prstGeom>
          <a:ln w="3810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Rechte verbindingslijn met pijl 21">
            <a:extLst>
              <a:ext uri="{FF2B5EF4-FFF2-40B4-BE49-F238E27FC236}">
                <a16:creationId xmlns:a16="http://schemas.microsoft.com/office/drawing/2014/main" id="{3BCC6933-39B0-76B5-C2C7-13EE74BB8A83}"/>
              </a:ext>
            </a:extLst>
          </p:cNvPr>
          <p:cNvCxnSpPr>
            <a:cxnSpLocks/>
          </p:cNvCxnSpPr>
          <p:nvPr/>
        </p:nvCxnSpPr>
        <p:spPr>
          <a:xfrm>
            <a:off x="5604386" y="4146754"/>
            <a:ext cx="1719557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Rechte verbindingslijn met pijl 22">
            <a:extLst>
              <a:ext uri="{FF2B5EF4-FFF2-40B4-BE49-F238E27FC236}">
                <a16:creationId xmlns:a16="http://schemas.microsoft.com/office/drawing/2014/main" id="{12381AB1-6A1E-B46F-A695-92CE3D847D81}"/>
              </a:ext>
            </a:extLst>
          </p:cNvPr>
          <p:cNvCxnSpPr>
            <a:cxnSpLocks/>
          </p:cNvCxnSpPr>
          <p:nvPr/>
        </p:nvCxnSpPr>
        <p:spPr>
          <a:xfrm flipV="1">
            <a:off x="5604387" y="2426404"/>
            <a:ext cx="0" cy="1690854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98659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76713E9-C6DD-DE8E-35F6-364487588A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Vector </a:t>
            </a:r>
            <a:r>
              <a:rPr lang="nl-NL" dirty="0" err="1"/>
              <a:t>resolution</a:t>
            </a:r>
            <a:endParaRPr lang="en-US" dirty="0"/>
          </a:p>
        </p:txBody>
      </p:sp>
      <p:pic>
        <p:nvPicPr>
          <p:cNvPr id="5" name="Tijdelijke aanduiding voor inhoud 4">
            <a:extLst>
              <a:ext uri="{FF2B5EF4-FFF2-40B4-BE49-F238E27FC236}">
                <a16:creationId xmlns:a16="http://schemas.microsoft.com/office/drawing/2014/main" id="{CC8445F6-C917-3DB5-0313-0BA4F176133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4735" y="2394777"/>
            <a:ext cx="9563100" cy="4324350"/>
          </a:xfrm>
          <a:prstGeom prst="rect">
            <a:avLst/>
          </a:prstGeom>
        </p:spPr>
      </p:pic>
      <p:sp>
        <p:nvSpPr>
          <p:cNvPr id="6" name="Tekstvak 5">
            <a:extLst>
              <a:ext uri="{FF2B5EF4-FFF2-40B4-BE49-F238E27FC236}">
                <a16:creationId xmlns:a16="http://schemas.microsoft.com/office/drawing/2014/main" id="{F83CE02F-9D60-EB2E-641F-BEED1FD366C9}"/>
              </a:ext>
            </a:extLst>
          </p:cNvPr>
          <p:cNvSpPr txBox="1"/>
          <p:nvPr/>
        </p:nvSpPr>
        <p:spPr>
          <a:xfrm>
            <a:off x="894735" y="2025445"/>
            <a:ext cx="9563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/>
              <a:t>Het ontbinden van een vector in een x- en een y-component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871759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FCFCB98-093E-F237-4624-8C76AFB5C2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Orient2D</a:t>
            </a:r>
            <a:endParaRPr lang="en-US" dirty="0"/>
          </a:p>
        </p:txBody>
      </p:sp>
      <p:pic>
        <p:nvPicPr>
          <p:cNvPr id="9" name="Tijdelijke aanduiding voor inhoud 8">
            <a:extLst>
              <a:ext uri="{FF2B5EF4-FFF2-40B4-BE49-F238E27FC236}">
                <a16:creationId xmlns:a16="http://schemas.microsoft.com/office/drawing/2014/main" id="{E0C96E9D-304E-FD1D-E5F4-780C7820151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5175" y="2201069"/>
            <a:ext cx="5581650" cy="3600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491400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4A5E50AD-11C6-B941-27B4-375B2D9DA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Toepassing Orient2D</a:t>
            </a:r>
            <a:endParaRPr lang="en-US" dirty="0"/>
          </a:p>
        </p:txBody>
      </p:sp>
      <p:pic>
        <p:nvPicPr>
          <p:cNvPr id="7" name="Tijdelijke aanduiding voor inhoud 6">
            <a:extLst>
              <a:ext uri="{FF2B5EF4-FFF2-40B4-BE49-F238E27FC236}">
                <a16:creationId xmlns:a16="http://schemas.microsoft.com/office/drawing/2014/main" id="{73AD262D-0995-A212-8E12-6155FBF703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4100" y="1848644"/>
            <a:ext cx="7543800" cy="4305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158534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23B2E39-DE6F-4F68-37F5-ECE8FCDE4C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Het dot-product</a:t>
            </a:r>
            <a:endParaRPr lang="en-US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15F508D0-F91C-9964-1E60-E51024CF72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083562"/>
          </a:xfrm>
        </p:spPr>
        <p:txBody>
          <a:bodyPr/>
          <a:lstStyle/>
          <a:p>
            <a:r>
              <a:rPr lang="en-US" dirty="0"/>
              <a:t>Het dot-product (of </a:t>
            </a:r>
            <a:r>
              <a:rPr lang="en-US" dirty="0" err="1"/>
              <a:t>inproduct</a:t>
            </a:r>
            <a:r>
              <a:rPr lang="en-US" dirty="0"/>
              <a:t>) is </a:t>
            </a:r>
            <a:r>
              <a:rPr lang="en-US" dirty="0" err="1"/>
              <a:t>een</a:t>
            </a:r>
            <a:r>
              <a:rPr lang="en-US" dirty="0"/>
              <a:t> begrip </a:t>
            </a:r>
            <a:r>
              <a:rPr lang="en-US" dirty="0" err="1"/>
              <a:t>uit</a:t>
            </a:r>
            <a:r>
              <a:rPr lang="en-US" dirty="0"/>
              <a:t> de </a:t>
            </a:r>
            <a:r>
              <a:rPr lang="en-US" dirty="0" err="1"/>
              <a:t>wiskunde</a:t>
            </a:r>
            <a:r>
              <a:rPr lang="en-US" dirty="0"/>
              <a:t> </a:t>
            </a:r>
            <a:r>
              <a:rPr lang="en-US" dirty="0" err="1"/>
              <a:t>waarmee</a:t>
            </a:r>
            <a:r>
              <a:rPr lang="en-US" dirty="0"/>
              <a:t> je twee </a:t>
            </a:r>
            <a:r>
              <a:rPr lang="en-US" dirty="0" err="1"/>
              <a:t>vectoren</a:t>
            </a:r>
            <a:r>
              <a:rPr lang="en-US" dirty="0"/>
              <a:t> met </a:t>
            </a:r>
            <a:r>
              <a:rPr lang="en-US" dirty="0" err="1"/>
              <a:t>elkaar</a:t>
            </a:r>
            <a:r>
              <a:rPr lang="en-US" dirty="0"/>
              <a:t> </a:t>
            </a:r>
            <a:r>
              <a:rPr lang="en-US" dirty="0" err="1"/>
              <a:t>vermenigvuldigt</a:t>
            </a:r>
            <a:r>
              <a:rPr lang="en-US" dirty="0"/>
              <a:t>. De </a:t>
            </a:r>
            <a:r>
              <a:rPr lang="en-US" dirty="0" err="1"/>
              <a:t>uitkomst</a:t>
            </a:r>
            <a:r>
              <a:rPr lang="en-US" dirty="0"/>
              <a:t> is </a:t>
            </a:r>
            <a:r>
              <a:rPr lang="en-US" dirty="0" err="1"/>
              <a:t>één</a:t>
            </a:r>
            <a:r>
              <a:rPr lang="en-US" dirty="0"/>
              <a:t> </a:t>
            </a:r>
            <a:r>
              <a:rPr lang="en-US" dirty="0" err="1"/>
              <a:t>getal</a:t>
            </a:r>
            <a:r>
              <a:rPr lang="en-US" dirty="0"/>
              <a:t> (</a:t>
            </a:r>
            <a:r>
              <a:rPr lang="en-US" dirty="0" err="1"/>
              <a:t>een</a:t>
            </a:r>
            <a:r>
              <a:rPr lang="en-US" dirty="0"/>
              <a:t> </a:t>
            </a:r>
            <a:r>
              <a:rPr lang="en-US" dirty="0" err="1"/>
              <a:t>scalair</a:t>
            </a:r>
            <a:r>
              <a:rPr lang="en-US" dirty="0"/>
              <a:t>)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geen</a:t>
            </a:r>
            <a:r>
              <a:rPr lang="en-US" dirty="0"/>
              <a:t> </a:t>
            </a:r>
            <a:r>
              <a:rPr lang="en-US" dirty="0" err="1"/>
              <a:t>nieuwe</a:t>
            </a:r>
            <a:r>
              <a:rPr lang="en-US" dirty="0"/>
              <a:t> vector.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943193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B77E70A-DC67-25C8-F64E-CF9E8D3381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b="1" dirty="0"/>
              <a:t>1. Hoe </a:t>
            </a:r>
            <a:r>
              <a:rPr lang="en-US" b="1" dirty="0" err="1"/>
              <a:t>bereken</a:t>
            </a:r>
            <a:r>
              <a:rPr lang="en-US" b="1" dirty="0"/>
              <a:t> je het dot-product?</a:t>
            </a:r>
            <a:endParaRPr lang="en-US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C82FD975-DF33-43D5-BE64-14174EB015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Stel </a:t>
            </a:r>
            <a:r>
              <a:rPr lang="en-US" dirty="0" err="1"/>
              <a:t>dat</a:t>
            </a:r>
            <a:r>
              <a:rPr lang="en-US" dirty="0"/>
              <a:t> je twee </a:t>
            </a:r>
            <a:r>
              <a:rPr lang="en-US" dirty="0" err="1"/>
              <a:t>vectoren</a:t>
            </a:r>
            <a:r>
              <a:rPr lang="en-US" dirty="0"/>
              <a:t> </a:t>
            </a:r>
            <a:r>
              <a:rPr lang="en-US" dirty="0" err="1"/>
              <a:t>hebt</a:t>
            </a:r>
            <a:r>
              <a:rPr lang="en-US" dirty="0"/>
              <a:t>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Je </a:t>
            </a:r>
            <a:r>
              <a:rPr lang="en-US" dirty="0" err="1"/>
              <a:t>berekent</a:t>
            </a:r>
            <a:r>
              <a:rPr lang="en-US" dirty="0"/>
              <a:t> het </a:t>
            </a:r>
            <a:r>
              <a:rPr lang="en-US" dirty="0" err="1"/>
              <a:t>inproduct</a:t>
            </a:r>
            <a:r>
              <a:rPr lang="en-US" dirty="0"/>
              <a:t> door de </a:t>
            </a:r>
            <a:r>
              <a:rPr lang="en-US" dirty="0" err="1"/>
              <a:t>overeenkomstige</a:t>
            </a:r>
            <a:r>
              <a:rPr lang="en-US" dirty="0"/>
              <a:t> </a:t>
            </a:r>
            <a:r>
              <a:rPr lang="en-US" dirty="0" err="1"/>
              <a:t>getallen</a:t>
            </a:r>
            <a:r>
              <a:rPr lang="en-US" dirty="0"/>
              <a:t> met </a:t>
            </a:r>
            <a:r>
              <a:rPr lang="en-US" dirty="0" err="1"/>
              <a:t>elkaar</a:t>
            </a:r>
            <a:r>
              <a:rPr lang="en-US" dirty="0"/>
              <a:t> </a:t>
            </a:r>
            <a:r>
              <a:rPr lang="en-US" dirty="0" err="1"/>
              <a:t>te</a:t>
            </a:r>
            <a:r>
              <a:rPr lang="en-US" dirty="0"/>
              <a:t> </a:t>
            </a:r>
            <a:r>
              <a:rPr lang="en-US" dirty="0" err="1"/>
              <a:t>vermenigvuldigen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de </a:t>
            </a:r>
            <a:r>
              <a:rPr lang="en-US" dirty="0" err="1"/>
              <a:t>uitkomsten</a:t>
            </a:r>
            <a:r>
              <a:rPr lang="en-US" dirty="0"/>
              <a:t> op </a:t>
            </a:r>
            <a:r>
              <a:rPr lang="en-US" dirty="0" err="1"/>
              <a:t>te</a:t>
            </a:r>
            <a:r>
              <a:rPr lang="en-US" dirty="0"/>
              <a:t> </a:t>
            </a:r>
            <a:r>
              <a:rPr lang="en-US" dirty="0" err="1"/>
              <a:t>tellen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BAAFD336-83A6-44E1-0637-BB35EF60BE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7792" y="2615720"/>
            <a:ext cx="3098258" cy="919960"/>
          </a:xfrm>
          <a:prstGeom prst="rect">
            <a:avLst/>
          </a:prstGeom>
        </p:spPr>
      </p:pic>
      <p:pic>
        <p:nvPicPr>
          <p:cNvPr id="7" name="Afbeelding 6">
            <a:extLst>
              <a:ext uri="{FF2B5EF4-FFF2-40B4-BE49-F238E27FC236}">
                <a16:creationId xmlns:a16="http://schemas.microsoft.com/office/drawing/2014/main" id="{A7989F07-5F3B-FDEC-60E2-DA7DC98551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3208" y="5010855"/>
            <a:ext cx="2655271" cy="1847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520952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63F9546-D09D-2542-BF3C-A2C4DC2357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 regel is </a:t>
            </a:r>
            <a:r>
              <a:rPr lang="en-US" dirty="0" err="1"/>
              <a:t>dus</a:t>
            </a:r>
            <a:r>
              <a:rPr lang="en-US" dirty="0"/>
              <a:t>:</a:t>
            </a:r>
          </a:p>
        </p:txBody>
      </p:sp>
      <p:pic>
        <p:nvPicPr>
          <p:cNvPr id="5" name="Tijdelijke aanduiding voor inhoud 4">
            <a:extLst>
              <a:ext uri="{FF2B5EF4-FFF2-40B4-BE49-F238E27FC236}">
                <a16:creationId xmlns:a16="http://schemas.microsoft.com/office/drawing/2014/main" id="{2DC38491-1DE5-F8C1-5C33-67F8465E3A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44918" y="2387600"/>
            <a:ext cx="5302164" cy="1767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157559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Afbeelding 24">
            <a:extLst>
              <a:ext uri="{FF2B5EF4-FFF2-40B4-BE49-F238E27FC236}">
                <a16:creationId xmlns:a16="http://schemas.microsoft.com/office/drawing/2014/main" id="{45588050-9101-1C2C-D1F9-2AA5EC0F7D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831358">
            <a:off x="3452089" y="5059719"/>
            <a:ext cx="1254784" cy="693434"/>
          </a:xfrm>
          <a:prstGeom prst="rect">
            <a:avLst/>
          </a:prstGeom>
        </p:spPr>
      </p:pic>
      <p:pic>
        <p:nvPicPr>
          <p:cNvPr id="21" name="Afbeelding 20">
            <a:extLst>
              <a:ext uri="{FF2B5EF4-FFF2-40B4-BE49-F238E27FC236}">
                <a16:creationId xmlns:a16="http://schemas.microsoft.com/office/drawing/2014/main" id="{311AADB4-70B7-CDCF-0169-F6E6E85164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831358">
            <a:off x="4149317" y="4358083"/>
            <a:ext cx="554986" cy="733375"/>
          </a:xfrm>
          <a:prstGeom prst="rect">
            <a:avLst/>
          </a:prstGeom>
        </p:spPr>
      </p:pic>
      <p:pic>
        <p:nvPicPr>
          <p:cNvPr id="19" name="Afbeelding 18">
            <a:extLst>
              <a:ext uri="{FF2B5EF4-FFF2-40B4-BE49-F238E27FC236}">
                <a16:creationId xmlns:a16="http://schemas.microsoft.com/office/drawing/2014/main" id="{A05091CB-515A-18EE-7883-1A8F433475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831358">
            <a:off x="3845582" y="3129302"/>
            <a:ext cx="772458" cy="816598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501195F0-01C0-A3E8-B7E5-3D48959C5F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Hoe gebruik je het dot-product</a:t>
            </a:r>
            <a:endParaRPr lang="en-US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AA148957-E562-B084-FA53-C9485EBCF2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6"/>
            <a:ext cx="10515600" cy="1322334"/>
          </a:xfrm>
        </p:spPr>
        <p:txBody>
          <a:bodyPr>
            <a:normAutofit/>
          </a:bodyPr>
          <a:lstStyle/>
          <a:p>
            <a:r>
              <a:rPr lang="nl-NL" dirty="0"/>
              <a:t>Je gebruikt het dot-product onder andere om de lengte te bepalen van de projectie van een vector in de richting van een genormaliseerde vector</a:t>
            </a:r>
            <a:endParaRPr lang="en-US" dirty="0"/>
          </a:p>
        </p:txBody>
      </p:sp>
      <p:cxnSp>
        <p:nvCxnSpPr>
          <p:cNvPr id="5" name="Rechte verbindingslijn met pijl 4">
            <a:extLst>
              <a:ext uri="{FF2B5EF4-FFF2-40B4-BE49-F238E27FC236}">
                <a16:creationId xmlns:a16="http://schemas.microsoft.com/office/drawing/2014/main" id="{A5E4D260-0667-C730-4630-BC238672DB2C}"/>
              </a:ext>
            </a:extLst>
          </p:cNvPr>
          <p:cNvCxnSpPr>
            <a:cxnSpLocks/>
          </p:cNvCxnSpPr>
          <p:nvPr/>
        </p:nvCxnSpPr>
        <p:spPr>
          <a:xfrm rot="831358" flipV="1">
            <a:off x="3420534" y="2786481"/>
            <a:ext cx="2194560" cy="206248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Rechte verbindingslijn 9">
            <a:extLst>
              <a:ext uri="{FF2B5EF4-FFF2-40B4-BE49-F238E27FC236}">
                <a16:creationId xmlns:a16="http://schemas.microsoft.com/office/drawing/2014/main" id="{F33AF838-AD26-60A7-C15B-82BB922562CD}"/>
              </a:ext>
            </a:extLst>
          </p:cNvPr>
          <p:cNvCxnSpPr>
            <a:cxnSpLocks/>
          </p:cNvCxnSpPr>
          <p:nvPr/>
        </p:nvCxnSpPr>
        <p:spPr>
          <a:xfrm rot="831358">
            <a:off x="1170039" y="5336530"/>
            <a:ext cx="1018376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Rechte verbindingslijn met pijl 10">
            <a:extLst>
              <a:ext uri="{FF2B5EF4-FFF2-40B4-BE49-F238E27FC236}">
                <a16:creationId xmlns:a16="http://schemas.microsoft.com/office/drawing/2014/main" id="{5D4D44D2-1A27-1F1B-871B-D5B499DB48C0}"/>
              </a:ext>
            </a:extLst>
          </p:cNvPr>
          <p:cNvCxnSpPr>
            <a:cxnSpLocks/>
          </p:cNvCxnSpPr>
          <p:nvPr/>
        </p:nvCxnSpPr>
        <p:spPr>
          <a:xfrm rot="831358">
            <a:off x="3160981" y="4697253"/>
            <a:ext cx="1099902" cy="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hteraccolade 14">
            <a:extLst>
              <a:ext uri="{FF2B5EF4-FFF2-40B4-BE49-F238E27FC236}">
                <a16:creationId xmlns:a16="http://schemas.microsoft.com/office/drawing/2014/main" id="{9BDFE178-A31B-C473-9E67-7D84D4C4EACB}"/>
              </a:ext>
            </a:extLst>
          </p:cNvPr>
          <p:cNvSpPr/>
          <p:nvPr/>
        </p:nvSpPr>
        <p:spPr>
          <a:xfrm rot="6231358">
            <a:off x="3960587" y="4064949"/>
            <a:ext cx="373618" cy="2106070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Rechte verbindingslijn 16">
            <a:extLst>
              <a:ext uri="{FF2B5EF4-FFF2-40B4-BE49-F238E27FC236}">
                <a16:creationId xmlns:a16="http://schemas.microsoft.com/office/drawing/2014/main" id="{B8A85D52-F824-6B84-336E-492929B07928}"/>
              </a:ext>
            </a:extLst>
          </p:cNvPr>
          <p:cNvCxnSpPr>
            <a:cxnSpLocks/>
          </p:cNvCxnSpPr>
          <p:nvPr/>
        </p:nvCxnSpPr>
        <p:spPr>
          <a:xfrm rot="831358" flipV="1">
            <a:off x="5551442" y="3082016"/>
            <a:ext cx="0" cy="2062480"/>
          </a:xfrm>
          <a:prstGeom prst="line">
            <a:avLst/>
          </a:prstGeom>
          <a:ln w="38100"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8886455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430E854-A974-B3F9-7F52-145C55FF2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Vectorresolution</a:t>
            </a:r>
            <a:r>
              <a:rPr lang="nl-NL" dirty="0"/>
              <a:t> in </a:t>
            </a:r>
            <a:r>
              <a:rPr lang="nl-NL" dirty="0" err="1"/>
              <a:t>orthonormal</a:t>
            </a:r>
            <a:r>
              <a:rPr lang="nl-NL" dirty="0"/>
              <a:t> basis</a:t>
            </a:r>
            <a:endParaRPr lang="en-US" dirty="0"/>
          </a:p>
        </p:txBody>
      </p:sp>
      <p:pic>
        <p:nvPicPr>
          <p:cNvPr id="5" name="Tijdelijke aanduiding voor inhoud 4">
            <a:extLst>
              <a:ext uri="{FF2B5EF4-FFF2-40B4-BE49-F238E27FC236}">
                <a16:creationId xmlns:a16="http://schemas.microsoft.com/office/drawing/2014/main" id="{5FA14B5D-8C2B-FAC2-3E82-5AACCE29F3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6475" y="1829594"/>
            <a:ext cx="7639050" cy="434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107430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522D06C-4988-6BF6-0307-084EB803CB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Resolution</a:t>
            </a:r>
            <a:r>
              <a:rPr lang="nl-NL" dirty="0"/>
              <a:t> of </a:t>
            </a:r>
            <a:r>
              <a:rPr lang="nl-NL" dirty="0" err="1"/>
              <a:t>velocity</a:t>
            </a:r>
            <a:r>
              <a:rPr lang="nl-NL" dirty="0"/>
              <a:t> in a line</a:t>
            </a:r>
            <a:endParaRPr lang="en-US" dirty="0"/>
          </a:p>
        </p:txBody>
      </p:sp>
      <p:pic>
        <p:nvPicPr>
          <p:cNvPr id="7" name="Tijdelijke aanduiding voor inhoud 6">
            <a:extLst>
              <a:ext uri="{FF2B5EF4-FFF2-40B4-BE49-F238E27FC236}">
                <a16:creationId xmlns:a16="http://schemas.microsoft.com/office/drawing/2014/main" id="{3DF7733C-C8C7-14C8-F3E3-64E10A5B58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4828" y="1825625"/>
            <a:ext cx="7762344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728881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DD4FAD04-37F8-D6E0-A541-B46A9656FD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Nog te ontwikkelen</a:t>
            </a:r>
            <a:endParaRPr lang="en-US" dirty="0"/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3C2AFE01-FF6D-D131-7B59-911F875941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124060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CDE9BAE-B9B8-C782-6E1C-AC4F3E4EC9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Hoogtelijnen</a:t>
            </a:r>
            <a:endParaRPr lang="en-US" dirty="0"/>
          </a:p>
        </p:txBody>
      </p:sp>
      <p:pic>
        <p:nvPicPr>
          <p:cNvPr id="5" name="Tijdelijke aanduiding voor inhoud 4">
            <a:extLst>
              <a:ext uri="{FF2B5EF4-FFF2-40B4-BE49-F238E27FC236}">
                <a16:creationId xmlns:a16="http://schemas.microsoft.com/office/drawing/2014/main" id="{8BF0A3ED-B579-381A-D0B3-663761CFB4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6950" y="1839119"/>
            <a:ext cx="7658100" cy="4324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305626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F68DA85-A38D-EA7D-65E0-90D825054B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Circumcenter</a:t>
            </a:r>
            <a:r>
              <a:rPr lang="nl-NL" dirty="0"/>
              <a:t> van een driehoek</a:t>
            </a:r>
            <a:endParaRPr lang="en-US" dirty="0"/>
          </a:p>
        </p:txBody>
      </p:sp>
      <p:pic>
        <p:nvPicPr>
          <p:cNvPr id="5" name="Tijdelijke aanduiding voor inhoud 4">
            <a:extLst>
              <a:ext uri="{FF2B5EF4-FFF2-40B4-BE49-F238E27FC236}">
                <a16:creationId xmlns:a16="http://schemas.microsoft.com/office/drawing/2014/main" id="{AFD5D879-7DF7-72AD-D347-603BE0125C9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6950" y="1848644"/>
            <a:ext cx="7658100" cy="4305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91648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7255C3D-507D-9DAC-5AAA-F1E1444505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Incenter</a:t>
            </a:r>
            <a:r>
              <a:rPr lang="nl-NL" dirty="0"/>
              <a:t> van een driehoek</a:t>
            </a:r>
            <a:endParaRPr lang="en-US" dirty="0"/>
          </a:p>
        </p:txBody>
      </p:sp>
      <p:pic>
        <p:nvPicPr>
          <p:cNvPr id="5" name="Tijdelijke aanduiding voor inhoud 4">
            <a:extLst>
              <a:ext uri="{FF2B5EF4-FFF2-40B4-BE49-F238E27FC236}">
                <a16:creationId xmlns:a16="http://schemas.microsoft.com/office/drawing/2014/main" id="{E5C8380A-9184-1EF1-2FD6-252694DBC69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5050" y="1848644"/>
            <a:ext cx="7581900" cy="4305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316633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BD938CF-D5F7-3D6B-767E-0A3B3B50C9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Incircle</a:t>
            </a:r>
            <a:r>
              <a:rPr lang="nl-NL" dirty="0"/>
              <a:t> matrix</a:t>
            </a:r>
            <a:endParaRPr lang="en-US" dirty="0"/>
          </a:p>
        </p:txBody>
      </p:sp>
      <p:pic>
        <p:nvPicPr>
          <p:cNvPr id="5" name="Tijdelijke aanduiding voor inhoud 4">
            <a:extLst>
              <a:ext uri="{FF2B5EF4-FFF2-40B4-BE49-F238E27FC236}">
                <a16:creationId xmlns:a16="http://schemas.microsoft.com/office/drawing/2014/main" id="{DC324F69-5ABC-F996-F6B0-76AA6D5654E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4100" y="1858169"/>
            <a:ext cx="7543800" cy="4286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867366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96950A-A8C7-0361-FA90-B5CF8E2BCE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89DDA38-F548-F8CD-7A56-ADF9D3273E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7 Orient2D en reflectiematrix in lijn</a:t>
            </a:r>
            <a:endParaRPr lang="en-US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6FD97370-9680-8BC9-8C30-9AB4F555C8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448517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6" name="Afbeelding 5">
            <a:extLst>
              <a:ext uri="{FF2B5EF4-FFF2-40B4-BE49-F238E27FC236}">
                <a16:creationId xmlns:a16="http://schemas.microsoft.com/office/drawing/2014/main" id="{7F5ABB34-8588-10E3-AA83-26EB6BD7BF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9971" y="5367846"/>
            <a:ext cx="2972058" cy="769687"/>
          </a:xfrm>
          <a:prstGeom prst="rect">
            <a:avLst/>
          </a:prstGeom>
        </p:spPr>
      </p:pic>
      <p:pic>
        <p:nvPicPr>
          <p:cNvPr id="10" name="Afbeelding 9">
            <a:extLst>
              <a:ext uri="{FF2B5EF4-FFF2-40B4-BE49-F238E27FC236}">
                <a16:creationId xmlns:a16="http://schemas.microsoft.com/office/drawing/2014/main" id="{4046B8BA-EFA7-CDF0-38DF-551362D3A5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1339" y="4385279"/>
            <a:ext cx="1653683" cy="708721"/>
          </a:xfrm>
          <a:prstGeom prst="rect">
            <a:avLst/>
          </a:prstGeom>
        </p:spPr>
      </p:pic>
      <p:pic>
        <p:nvPicPr>
          <p:cNvPr id="12" name="Afbeelding 11">
            <a:extLst>
              <a:ext uri="{FF2B5EF4-FFF2-40B4-BE49-F238E27FC236}">
                <a16:creationId xmlns:a16="http://schemas.microsoft.com/office/drawing/2014/main" id="{BB09E670-4914-EB8B-E00A-34C0BF251F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8121" y="5563190"/>
            <a:ext cx="2530059" cy="746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8301057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473</Words>
  <Application>Microsoft Office PowerPoint</Application>
  <PresentationFormat>Breedbeeld</PresentationFormat>
  <Paragraphs>75</Paragraphs>
  <Slides>34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3</vt:i4>
      </vt:variant>
      <vt:variant>
        <vt:lpstr>Thema</vt:lpstr>
      </vt:variant>
      <vt:variant>
        <vt:i4>1</vt:i4>
      </vt:variant>
      <vt:variant>
        <vt:lpstr>Diatitels</vt:lpstr>
      </vt:variant>
      <vt:variant>
        <vt:i4>34</vt:i4>
      </vt:variant>
    </vt:vector>
  </HeadingPairs>
  <TitlesOfParts>
    <vt:vector size="38" baseType="lpstr">
      <vt:lpstr>Aptos</vt:lpstr>
      <vt:lpstr>Aptos Display</vt:lpstr>
      <vt:lpstr>Arial</vt:lpstr>
      <vt:lpstr>Kantoorthema</vt:lpstr>
      <vt:lpstr>Linaire algebra</vt:lpstr>
      <vt:lpstr>1 Draggable point</vt:lpstr>
      <vt:lpstr>2. De GVector</vt:lpstr>
      <vt:lpstr>Sumvector</vt:lpstr>
      <vt:lpstr>3. Differencevector</vt:lpstr>
      <vt:lpstr>2. Basis vectoroperaties</vt:lpstr>
      <vt:lpstr>Toepassing basis vectoroperaties</vt:lpstr>
      <vt:lpstr>3. Normaliseren</vt:lpstr>
      <vt:lpstr>Genormaliseerde vector</vt:lpstr>
      <vt:lpstr>4. De geparametriseerde lijn</vt:lpstr>
      <vt:lpstr>Geparametriseerde lijn</vt:lpstr>
      <vt:lpstr>6 De normal</vt:lpstr>
      <vt:lpstr>Transformatiematrix van 90° draaien</vt:lpstr>
      <vt:lpstr>Normaalvector van een lijn</vt:lpstr>
      <vt:lpstr>5. De transformatie matrix</vt:lpstr>
      <vt:lpstr>Voorbeeld 2x2 Matrix</vt:lpstr>
      <vt:lpstr>Toepassing transformatie matrix</vt:lpstr>
      <vt:lpstr>Intersection </vt:lpstr>
      <vt:lpstr>polar coordinates</vt:lpstr>
      <vt:lpstr>Vector resolution</vt:lpstr>
      <vt:lpstr>Orient2D</vt:lpstr>
      <vt:lpstr>Toepassing Orient2D</vt:lpstr>
      <vt:lpstr>Het dot-product</vt:lpstr>
      <vt:lpstr>1. Hoe bereken je het dot-product?</vt:lpstr>
      <vt:lpstr>De regel is dus:</vt:lpstr>
      <vt:lpstr>Hoe gebruik je het dot-product</vt:lpstr>
      <vt:lpstr>Vectorresolution in orthonormal basis</vt:lpstr>
      <vt:lpstr>Resolution of velocity in a line</vt:lpstr>
      <vt:lpstr>Nog te ontwikkelen</vt:lpstr>
      <vt:lpstr>Hoogtelijnen</vt:lpstr>
      <vt:lpstr>Circumcenter van een driehoek</vt:lpstr>
      <vt:lpstr>Incenter van een driehoek</vt:lpstr>
      <vt:lpstr>Incircle matrix</vt:lpstr>
      <vt:lpstr>7 Orient2D en reflectiematrix in lijn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Jelle Sjollema</dc:creator>
  <cp:lastModifiedBy>Jelle Sjollema</cp:lastModifiedBy>
  <cp:revision>54</cp:revision>
  <dcterms:created xsi:type="dcterms:W3CDTF">2026-09-26T10:53:44Z</dcterms:created>
  <dcterms:modified xsi:type="dcterms:W3CDTF">2026-10-18T10:14:15Z</dcterms:modified>
</cp:coreProperties>
</file>